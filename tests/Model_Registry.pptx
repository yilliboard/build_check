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300" b="0" i="0">
                <a:solidFill>
                  <a:srgbClr val="56565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300" b="0" i="0">
                <a:solidFill>
                  <a:srgbClr val="56565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127000"/>
            <a:ext cx="16979900" cy="9296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57300" y="9499600"/>
            <a:ext cx="3378200" cy="203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300" b="0" i="0">
                <a:solidFill>
                  <a:srgbClr val="56565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300" b="0" i="0">
                <a:solidFill>
                  <a:srgbClr val="56565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3944" y="394405"/>
            <a:ext cx="16027311" cy="16696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300" b="0" i="0">
                <a:solidFill>
                  <a:srgbClr val="56565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92134" y="2355497"/>
            <a:ext cx="12733019" cy="6722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7.jp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jpg"/><Relationship Id="rId10" Type="http://schemas.openxmlformats.org/officeDocument/2006/relationships/image" Target="../media/image18.png"/><Relationship Id="rId11" Type="http://schemas.openxmlformats.org/officeDocument/2006/relationships/image" Target="../media/image19.jpg"/><Relationship Id="rId12" Type="http://schemas.openxmlformats.org/officeDocument/2006/relationships/image" Target="../media/image20.jpg"/><Relationship Id="rId13" Type="http://schemas.openxmlformats.org/officeDocument/2006/relationships/image" Target="../media/image21.png"/><Relationship Id="rId14" Type="http://schemas.openxmlformats.org/officeDocument/2006/relationships/image" Target="../media/image2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jp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jpg"/><Relationship Id="rId11" Type="http://schemas.openxmlformats.org/officeDocument/2006/relationships/image" Target="../media/image3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image" Target="../media/image47.jpg"/><Relationship Id="rId10" Type="http://schemas.openxmlformats.org/officeDocument/2006/relationships/image" Target="../media/image48.png"/><Relationship Id="rId11" Type="http://schemas.openxmlformats.org/officeDocument/2006/relationships/image" Target="../media/image49.jpg"/><Relationship Id="rId12" Type="http://schemas.openxmlformats.org/officeDocument/2006/relationships/image" Target="../media/image50.jpg"/><Relationship Id="rId13" Type="http://schemas.openxmlformats.org/officeDocument/2006/relationships/image" Target="../media/image51.png"/><Relationship Id="rId14" Type="http://schemas.openxmlformats.org/officeDocument/2006/relationships/image" Target="../media/image5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jpg"/><Relationship Id="rId3" Type="http://schemas.openxmlformats.org/officeDocument/2006/relationships/image" Target="../media/image5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jpg"/><Relationship Id="rId9" Type="http://schemas.openxmlformats.org/officeDocument/2006/relationships/image" Target="../media/image6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jpg"/><Relationship Id="rId4" Type="http://schemas.openxmlformats.org/officeDocument/2006/relationships/image" Target="../media/image6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800" y="3289300"/>
            <a:ext cx="16903700" cy="6337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4093" rIns="0" bIns="0" rtlCol="0" vert="horz">
            <a:spAutoFit/>
          </a:bodyPr>
          <a:lstStyle/>
          <a:p>
            <a:pPr marL="1054735">
              <a:lnSpc>
                <a:spcPct val="100000"/>
              </a:lnSpc>
              <a:spcBef>
                <a:spcPts val="1070"/>
              </a:spcBef>
            </a:pPr>
            <a:r>
              <a:rPr dirty="0" sz="4200">
                <a:solidFill>
                  <a:srgbClr val="1F1F1F"/>
                </a:solidFill>
              </a:rPr>
              <a:t>Asynchronous</a:t>
            </a:r>
            <a:r>
              <a:rPr dirty="0" sz="4200" spc="265">
                <a:solidFill>
                  <a:srgbClr val="1F1F1F"/>
                </a:solidFill>
              </a:rPr>
              <a:t> </a:t>
            </a:r>
            <a:r>
              <a:rPr dirty="0" sz="4200">
                <a:solidFill>
                  <a:srgbClr val="212121"/>
                </a:solidFill>
              </a:rPr>
              <a:t>Model</a:t>
            </a:r>
            <a:r>
              <a:rPr dirty="0" sz="4200" spc="-75">
                <a:solidFill>
                  <a:srgbClr val="212121"/>
                </a:solidFill>
              </a:rPr>
              <a:t> </a:t>
            </a:r>
            <a:r>
              <a:rPr dirty="0" sz="4200" spc="-10">
                <a:solidFill>
                  <a:srgbClr val="1D1D1D"/>
                </a:solidFill>
              </a:rPr>
              <a:t>Governance</a:t>
            </a:r>
            <a:r>
              <a:rPr dirty="0" sz="4200" spc="235">
                <a:solidFill>
                  <a:srgbClr val="1D1D1D"/>
                </a:solidFill>
              </a:rPr>
              <a:t> </a:t>
            </a:r>
            <a:r>
              <a:rPr dirty="0" sz="4200" spc="-120">
                <a:solidFill>
                  <a:srgbClr val="1F1F1F"/>
                </a:solidFill>
              </a:rPr>
              <a:t>&amp;</a:t>
            </a:r>
            <a:r>
              <a:rPr dirty="0" sz="4200" spc="-295">
                <a:solidFill>
                  <a:srgbClr val="1F1F1F"/>
                </a:solidFill>
              </a:rPr>
              <a:t> </a:t>
            </a:r>
            <a:r>
              <a:rPr dirty="0" sz="4200">
                <a:solidFill>
                  <a:srgbClr val="1A1A1A"/>
                </a:solidFill>
              </a:rPr>
              <a:t>Registry</a:t>
            </a:r>
            <a:r>
              <a:rPr dirty="0" sz="4200" spc="85">
                <a:solidFill>
                  <a:srgbClr val="1A1A1A"/>
                </a:solidFill>
              </a:rPr>
              <a:t> </a:t>
            </a:r>
            <a:r>
              <a:rPr dirty="0" sz="4200" spc="55">
                <a:solidFill>
                  <a:srgbClr val="212121"/>
                </a:solidFill>
              </a:rPr>
              <a:t>Architecture</a:t>
            </a:r>
            <a:endParaRPr sz="4200"/>
          </a:p>
          <a:p>
            <a:pPr marL="1169035">
              <a:lnSpc>
                <a:spcPct val="100000"/>
              </a:lnSpc>
              <a:spcBef>
                <a:spcPts val="560"/>
              </a:spcBef>
            </a:pPr>
            <a:r>
              <a:rPr dirty="0" sz="2500" spc="-80">
                <a:solidFill>
                  <a:srgbClr val="000000"/>
                </a:solidFill>
              </a:rPr>
              <a:t>Decoupling</a:t>
            </a:r>
            <a:r>
              <a:rPr dirty="0" sz="2500" spc="-95">
                <a:solidFill>
                  <a:srgbClr val="000000"/>
                </a:solidFill>
              </a:rPr>
              <a:t> </a:t>
            </a:r>
            <a:r>
              <a:rPr dirty="0" sz="2500" spc="-55">
                <a:solidFill>
                  <a:srgbClr val="000000"/>
                </a:solidFill>
              </a:rPr>
              <a:t>long-</a:t>
            </a:r>
            <a:r>
              <a:rPr dirty="0" sz="2500" spc="-10">
                <a:solidFill>
                  <a:srgbClr val="000000"/>
                </a:solidFill>
              </a:rPr>
              <a:t>running</a:t>
            </a:r>
            <a:r>
              <a:rPr dirty="0" sz="2500" spc="-130">
                <a:solidFill>
                  <a:srgbClr val="000000"/>
                </a:solidFill>
              </a:rPr>
              <a:t> </a:t>
            </a:r>
            <a:r>
              <a:rPr dirty="0" sz="2500" spc="-35">
                <a:solidFill>
                  <a:srgbClr val="000000"/>
                </a:solidFill>
              </a:rPr>
              <a:t>training</a:t>
            </a:r>
            <a:r>
              <a:rPr dirty="0" sz="2500" spc="-140">
                <a:solidFill>
                  <a:srgbClr val="000000"/>
                </a:solidFill>
              </a:rPr>
              <a:t> </a:t>
            </a:r>
            <a:r>
              <a:rPr dirty="0" sz="2500" spc="-25">
                <a:solidFill>
                  <a:srgbClr val="000000"/>
                </a:solidFill>
              </a:rPr>
              <a:t>cycles</a:t>
            </a:r>
            <a:r>
              <a:rPr dirty="0" sz="2500" spc="-85">
                <a:solidFill>
                  <a:srgbClr val="000000"/>
                </a:solidFill>
              </a:rPr>
              <a:t> </a:t>
            </a:r>
            <a:r>
              <a:rPr dirty="0" sz="2500" spc="-45">
                <a:solidFill>
                  <a:srgbClr val="111111"/>
                </a:solidFill>
              </a:rPr>
              <a:t>from</a:t>
            </a:r>
            <a:r>
              <a:rPr dirty="0" sz="2500" spc="-110">
                <a:solidFill>
                  <a:srgbClr val="111111"/>
                </a:solidFill>
              </a:rPr>
              <a:t> </a:t>
            </a:r>
            <a:r>
              <a:rPr dirty="0" sz="2500" spc="-65">
                <a:solidFill>
                  <a:srgbClr val="000000"/>
                </a:solidFill>
              </a:rPr>
              <a:t>real-</a:t>
            </a:r>
            <a:r>
              <a:rPr dirty="0" sz="2500">
                <a:solidFill>
                  <a:srgbClr val="000000"/>
                </a:solidFill>
              </a:rPr>
              <a:t>time</a:t>
            </a:r>
            <a:r>
              <a:rPr dirty="0" sz="2500" spc="-45">
                <a:solidFill>
                  <a:srgbClr val="000000"/>
                </a:solidFill>
              </a:rPr>
              <a:t> </a:t>
            </a:r>
            <a:r>
              <a:rPr dirty="0" sz="2500" spc="-40">
                <a:solidFill>
                  <a:srgbClr val="000000"/>
                </a:solidFill>
              </a:rPr>
              <a:t>scoring</a:t>
            </a:r>
            <a:r>
              <a:rPr dirty="0" sz="2500" spc="-55">
                <a:solidFill>
                  <a:srgbClr val="000000"/>
                </a:solidFill>
              </a:rPr>
              <a:t> </a:t>
            </a:r>
            <a:r>
              <a:rPr dirty="0" sz="2500" spc="-75">
                <a:solidFill>
                  <a:srgbClr val="151515"/>
                </a:solidFill>
              </a:rPr>
              <a:t>in</a:t>
            </a:r>
            <a:r>
              <a:rPr dirty="0" sz="2500" spc="-100">
                <a:solidFill>
                  <a:srgbClr val="151515"/>
                </a:solidFill>
              </a:rPr>
              <a:t> </a:t>
            </a:r>
            <a:r>
              <a:rPr dirty="0" sz="2500" spc="-60">
                <a:solidFill>
                  <a:srgbClr val="000000"/>
                </a:solidFill>
              </a:rPr>
              <a:t>heterogeneous</a:t>
            </a:r>
            <a:r>
              <a:rPr dirty="0" sz="2500" spc="10">
                <a:solidFill>
                  <a:srgbClr val="000000"/>
                </a:solidFill>
              </a:rPr>
              <a:t> </a:t>
            </a:r>
            <a:r>
              <a:rPr dirty="0" sz="2500" spc="-75">
                <a:solidFill>
                  <a:srgbClr val="000000"/>
                </a:solidFill>
              </a:rPr>
              <a:t>model </a:t>
            </a:r>
            <a:r>
              <a:rPr dirty="0" sz="2500" spc="-10">
                <a:solidFill>
                  <a:srgbClr val="000000"/>
                </a:solidFill>
              </a:rPr>
              <a:t>environments.</a:t>
            </a:r>
            <a:endParaRPr sz="2500"/>
          </a:p>
        </p:txBody>
      </p:sp>
      <p:sp>
        <p:nvSpPr>
          <p:cNvPr id="4" name="object 4" descr=""/>
          <p:cNvSpPr txBox="1"/>
          <p:nvPr/>
        </p:nvSpPr>
        <p:spPr>
          <a:xfrm>
            <a:off x="2354577" y="7043208"/>
            <a:ext cx="2129155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200">
                <a:latin typeface="Courier New"/>
                <a:cs typeface="Courier New"/>
              </a:rPr>
              <a:t>Training</a:t>
            </a:r>
            <a:r>
              <a:rPr dirty="0" sz="2300" spc="-100">
                <a:latin typeface="Courier New"/>
                <a:cs typeface="Courier New"/>
              </a:rPr>
              <a:t> </a:t>
            </a:r>
            <a:r>
              <a:rPr dirty="0" sz="2300" spc="-195">
                <a:latin typeface="Courier New"/>
                <a:cs typeface="Courier New"/>
              </a:rPr>
              <a:t>Cycle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65179" y="3301294"/>
            <a:ext cx="1866900" cy="5359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">
              <a:lnSpc>
                <a:spcPts val="2005"/>
              </a:lnSpc>
              <a:spcBef>
                <a:spcPts val="105"/>
              </a:spcBef>
            </a:pPr>
            <a:r>
              <a:rPr dirty="0" sz="1800" spc="-40">
                <a:latin typeface="Arial MT"/>
                <a:cs typeface="Arial MT"/>
              </a:rPr>
              <a:t>8ode\.</a:t>
            </a:r>
            <a:r>
              <a:rPr dirty="0" sz="1800" spc="20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Version</a:t>
            </a:r>
            <a:r>
              <a:rPr dirty="0" sz="1800" spc="-33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005"/>
              </a:lnSpc>
              <a:tabLst>
                <a:tab pos="1302385" algn="l"/>
              </a:tabLst>
            </a:pPr>
            <a:r>
              <a:rPr dirty="0" sz="1800">
                <a:latin typeface="Arial MT"/>
                <a:cs typeface="Arial MT"/>
              </a:rPr>
              <a:t>6</a:t>
            </a:r>
            <a:r>
              <a:rPr dirty="0" sz="1800" spc="3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Metadata</a:t>
            </a:r>
            <a:r>
              <a:rPr dirty="0" sz="1800">
                <a:latin typeface="Arial MT"/>
                <a:cs typeface="Arial MT"/>
              </a:rPr>
              <a:t>	</a:t>
            </a:r>
            <a:r>
              <a:rPr dirty="0" sz="1800" spc="-70">
                <a:latin typeface="Arial MT"/>
                <a:cs typeface="Arial MT"/>
              </a:rPr>
              <a:t>(Push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35310" y="6943725"/>
            <a:ext cx="1945639" cy="5365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5240">
              <a:lnSpc>
                <a:spcPts val="2085"/>
              </a:lnSpc>
              <a:spcBef>
                <a:spcPts val="125"/>
              </a:spcBef>
            </a:pPr>
            <a:r>
              <a:rPr dirty="0" sz="1850" spc="-110">
                <a:latin typeface="Consolas"/>
                <a:cs typeface="Consolas"/>
              </a:rPr>
              <a:t>Model</a:t>
            </a:r>
            <a:r>
              <a:rPr dirty="0" sz="1850" spc="-135">
                <a:latin typeface="Consolas"/>
                <a:cs typeface="Consolas"/>
              </a:rPr>
              <a:t> </a:t>
            </a:r>
            <a:r>
              <a:rPr dirty="0" sz="1850" spc="-50">
                <a:latin typeface="Consolas"/>
                <a:cs typeface="Consolas"/>
              </a:rPr>
              <a:t>Versioning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1905"/>
              </a:lnSpc>
              <a:tabLst>
                <a:tab pos="1289685" algn="l"/>
              </a:tabLst>
            </a:pPr>
            <a:r>
              <a:rPr dirty="0" sz="1700">
                <a:latin typeface="Arial MT"/>
                <a:cs typeface="Arial MT"/>
              </a:rPr>
              <a:t>6</a:t>
            </a:r>
            <a:r>
              <a:rPr dirty="0" sz="1700" spc="275">
                <a:latin typeface="Arial MT"/>
                <a:cs typeface="Arial MT"/>
              </a:rPr>
              <a:t> </a:t>
            </a:r>
            <a:r>
              <a:rPr dirty="0" sz="1700" spc="50">
                <a:latin typeface="Arial MT"/>
                <a:cs typeface="Arial MT"/>
              </a:rPr>
              <a:t>I\etadata</a:t>
            </a:r>
            <a:r>
              <a:rPr dirty="0" sz="1700">
                <a:latin typeface="Arial MT"/>
                <a:cs typeface="Arial MT"/>
              </a:rPr>
              <a:t>	</a:t>
            </a:r>
            <a:r>
              <a:rPr dirty="0" sz="1700" spc="-10">
                <a:latin typeface="Arial MT"/>
                <a:cs typeface="Arial MT"/>
              </a:rPr>
              <a:t>(Push}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632281" y="4804833"/>
            <a:ext cx="132969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45">
                <a:solidFill>
                  <a:srgbClr val="262626"/>
                </a:solidFill>
                <a:latin typeface="Arial MT"/>
                <a:cs typeface="Arial MT"/>
              </a:rPr>
              <a:t>Registry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752580" y="3301294"/>
            <a:ext cx="1639570" cy="5359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005"/>
              </a:lnSpc>
              <a:spcBef>
                <a:spcPts val="105"/>
              </a:spcBef>
            </a:pPr>
            <a:r>
              <a:rPr dirty="0" sz="1800">
                <a:latin typeface="Arial MT"/>
                <a:cs typeface="Arial MT"/>
              </a:rPr>
              <a:t>Model</a:t>
            </a:r>
            <a:r>
              <a:rPr dirty="0" sz="1800" spc="200">
                <a:latin typeface="Arial MT"/>
                <a:cs typeface="Arial MT"/>
              </a:rPr>
              <a:t> </a:t>
            </a:r>
            <a:r>
              <a:rPr dirty="0" sz="1800" spc="50">
                <a:latin typeface="Arial MT"/>
                <a:cs typeface="Arial MT"/>
              </a:rPr>
              <a:t>Art</a:t>
            </a:r>
            <a:r>
              <a:rPr dirty="0" sz="1800" spc="-285">
                <a:latin typeface="Arial MT"/>
                <a:cs typeface="Arial MT"/>
              </a:rPr>
              <a:t> </a:t>
            </a:r>
            <a:r>
              <a:rPr dirty="0" sz="1800" spc="180">
                <a:latin typeface="Arial MT"/>
                <a:cs typeface="Arial MT"/>
              </a:rPr>
              <a:t>lfact</a:t>
            </a:r>
            <a:endParaRPr sz="1800">
              <a:latin typeface="Arial MT"/>
              <a:cs typeface="Arial MT"/>
            </a:endParaRPr>
          </a:p>
          <a:p>
            <a:pPr marL="20955">
              <a:lnSpc>
                <a:spcPts val="2005"/>
              </a:lnSpc>
              <a:tabLst>
                <a:tab pos="1082040" algn="l"/>
              </a:tabLst>
            </a:pPr>
            <a:r>
              <a:rPr dirty="0" sz="1800">
                <a:latin typeface="Arial MT"/>
                <a:cs typeface="Arial MT"/>
              </a:rPr>
              <a:t>6</a:t>
            </a:r>
            <a:r>
              <a:rPr dirty="0" sz="1800" spc="37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Conf1</a:t>
            </a:r>
            <a:r>
              <a:rPr dirty="0" sz="1800">
                <a:latin typeface="Arial MT"/>
                <a:cs typeface="Arial MT"/>
              </a:rPr>
              <a:t>	(P</a:t>
            </a:r>
            <a:r>
              <a:rPr dirty="0" sz="1800" spc="254">
                <a:latin typeface="Arial MT"/>
                <a:cs typeface="Arial MT"/>
              </a:rPr>
              <a:t> </a:t>
            </a:r>
            <a:r>
              <a:rPr dirty="0" sz="1800" spc="-215">
                <a:latin typeface="Arial MT"/>
                <a:cs typeface="Arial MT"/>
              </a:rPr>
              <a:t>TT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626235" y="6961364"/>
            <a:ext cx="1626870" cy="5168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1945"/>
              </a:lnSpc>
              <a:spcBef>
                <a:spcPts val="135"/>
              </a:spcBef>
            </a:pPr>
            <a:r>
              <a:rPr dirty="0" sz="1700">
                <a:latin typeface="Arial MT"/>
                <a:cs typeface="Arial MT"/>
              </a:rPr>
              <a:t>Model</a:t>
            </a:r>
            <a:r>
              <a:rPr dirty="0" sz="1700" spc="42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Art</a:t>
            </a:r>
            <a:r>
              <a:rPr dirty="0" sz="1700" spc="114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if</a:t>
            </a:r>
            <a:r>
              <a:rPr dirty="0" sz="1700" spc="355">
                <a:latin typeface="Arial MT"/>
                <a:cs typeface="Arial MT"/>
              </a:rPr>
              <a:t> </a:t>
            </a:r>
            <a:r>
              <a:rPr dirty="0" sz="1700" spc="50">
                <a:solidFill>
                  <a:srgbClr val="0A0A0A"/>
                </a:solidFill>
                <a:latin typeface="Arial MT"/>
                <a:cs typeface="Arial MT"/>
              </a:rPr>
              <a:t>act</a:t>
            </a:r>
            <a:endParaRPr sz="1700">
              <a:latin typeface="Arial MT"/>
              <a:cs typeface="Arial MT"/>
            </a:endParaRPr>
          </a:p>
          <a:p>
            <a:pPr marL="20955">
              <a:lnSpc>
                <a:spcPts val="1885"/>
              </a:lnSpc>
              <a:tabLst>
                <a:tab pos="1082675" algn="l"/>
              </a:tabLst>
            </a:pPr>
            <a:r>
              <a:rPr dirty="0" sz="1650">
                <a:latin typeface="Arial MT"/>
                <a:cs typeface="Arial MT"/>
              </a:rPr>
              <a:t>6</a:t>
            </a:r>
            <a:r>
              <a:rPr dirty="0" sz="1650" spc="20">
                <a:latin typeface="Arial MT"/>
                <a:cs typeface="Arial MT"/>
              </a:rPr>
              <a:t>  </a:t>
            </a:r>
            <a:r>
              <a:rPr dirty="0" sz="1650" spc="-10">
                <a:latin typeface="Arial MT"/>
                <a:cs typeface="Arial MT"/>
              </a:rPr>
              <a:t>Conf1</a:t>
            </a:r>
            <a:r>
              <a:rPr dirty="0" sz="1650">
                <a:latin typeface="Arial MT"/>
                <a:cs typeface="Arial MT"/>
              </a:rPr>
              <a:t>	(P</a:t>
            </a:r>
            <a:r>
              <a:rPr dirty="0" sz="1650" spc="455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t\.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406666" y="8289925"/>
            <a:ext cx="4637405" cy="5746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75">
                <a:latin typeface="Arial MT"/>
                <a:cs typeface="Arial MT"/>
              </a:rPr>
              <a:t>For</a:t>
            </a:r>
            <a:r>
              <a:rPr dirty="0" sz="1850" spc="45">
                <a:latin typeface="Arial MT"/>
                <a:cs typeface="Arial MT"/>
              </a:rPr>
              <a:t> </a:t>
            </a:r>
            <a:r>
              <a:rPr dirty="0" sz="1850" spc="-100">
                <a:latin typeface="Arial MT"/>
                <a:cs typeface="Arial MT"/>
              </a:rPr>
              <a:t>ML0ps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 spc="-130">
                <a:latin typeface="Arial MT"/>
                <a:cs typeface="Arial MT"/>
              </a:rPr>
              <a:t>and</a:t>
            </a:r>
            <a:r>
              <a:rPr dirty="0" sz="1850" spc="-114">
                <a:latin typeface="Arial MT"/>
                <a:cs typeface="Arial MT"/>
              </a:rPr>
              <a:t> </a:t>
            </a:r>
            <a:r>
              <a:rPr dirty="0" sz="1850" spc="-150">
                <a:latin typeface="Arial MT"/>
                <a:cs typeface="Arial MT"/>
              </a:rPr>
              <a:t>Data</a:t>
            </a:r>
            <a:r>
              <a:rPr dirty="0" sz="1850" spc="-45">
                <a:latin typeface="Arial MT"/>
                <a:cs typeface="Arial MT"/>
              </a:rPr>
              <a:t> </a:t>
            </a:r>
            <a:r>
              <a:rPr dirty="0" sz="1850" spc="-125">
                <a:latin typeface="Arial MT"/>
                <a:cs typeface="Arial MT"/>
              </a:rPr>
              <a:t>Engineering</a:t>
            </a:r>
            <a:r>
              <a:rPr dirty="0" sz="1850" spc="105">
                <a:latin typeface="Arial MT"/>
                <a:cs typeface="Arial MT"/>
              </a:rPr>
              <a:t> </a:t>
            </a:r>
            <a:r>
              <a:rPr dirty="0" sz="1850" spc="-155">
                <a:latin typeface="Arial MT"/>
                <a:cs typeface="Arial MT"/>
              </a:rPr>
              <a:t>teams</a:t>
            </a:r>
            <a:r>
              <a:rPr dirty="0" sz="1850" spc="5">
                <a:latin typeface="Arial MT"/>
                <a:cs typeface="Arial MT"/>
              </a:rPr>
              <a:t> </a:t>
            </a:r>
            <a:r>
              <a:rPr dirty="0" sz="1850" spc="-105">
                <a:latin typeface="Arial MT"/>
                <a:cs typeface="Arial MT"/>
              </a:rPr>
              <a:t>managing</a:t>
            </a:r>
            <a:endParaRPr sz="1850">
              <a:latin typeface="Arial MT"/>
              <a:cs typeface="Arial MT"/>
            </a:endParaRPr>
          </a:p>
          <a:p>
            <a:pPr marL="93345">
              <a:lnSpc>
                <a:spcPct val="100000"/>
              </a:lnSpc>
              <a:spcBef>
                <a:spcPts val="30"/>
              </a:spcBef>
            </a:pPr>
            <a:r>
              <a:rPr dirty="0" sz="1700" spc="-45">
                <a:latin typeface="Arial MT"/>
                <a:cs typeface="Arial MT"/>
              </a:rPr>
              <a:t>mixed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portfolios</a:t>
            </a:r>
            <a:r>
              <a:rPr dirty="0" sz="1700" spc="5"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A0A0A"/>
                </a:solidFill>
                <a:latin typeface="Arial MT"/>
                <a:cs typeface="Arial MT"/>
              </a:rPr>
              <a:t>of</a:t>
            </a:r>
            <a:r>
              <a:rPr dirty="0" sz="1700" spc="-6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1700" spc="-75">
                <a:latin typeface="Arial MT"/>
                <a:cs typeface="Arial MT"/>
              </a:rPr>
              <a:t>Single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35">
                <a:latin typeface="Arial MT"/>
                <a:cs typeface="Arial MT"/>
              </a:rPr>
              <a:t>and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45">
                <a:latin typeface="Arial MT"/>
                <a:cs typeface="Arial MT"/>
              </a:rPr>
              <a:t>Clustered</a:t>
            </a:r>
            <a:r>
              <a:rPr dirty="0" sz="1700" spc="4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models.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145744" y="7043208"/>
            <a:ext cx="2550795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114">
                <a:latin typeface="Consolas"/>
                <a:cs typeface="Consolas"/>
              </a:rPr>
              <a:t>Real-</a:t>
            </a:r>
            <a:r>
              <a:rPr dirty="0" sz="2300" spc="-20">
                <a:latin typeface="Consolas"/>
                <a:cs typeface="Consolas"/>
              </a:rPr>
              <a:t>Time</a:t>
            </a:r>
            <a:r>
              <a:rPr dirty="0" sz="2300" spc="-229">
                <a:latin typeface="Consolas"/>
                <a:cs typeface="Consolas"/>
              </a:rPr>
              <a:t> </a:t>
            </a:r>
            <a:r>
              <a:rPr dirty="0" sz="2300" spc="-100">
                <a:latin typeface="Consolas"/>
                <a:cs typeface="Consolas"/>
              </a:rPr>
              <a:t>Scoring</a:t>
            </a:r>
            <a:endParaRPr sz="23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21200" y="7734300"/>
            <a:ext cx="177800" cy="63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300" y="2603500"/>
            <a:ext cx="7188200" cy="3606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94800" y="3403600"/>
            <a:ext cx="2616200" cy="17780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03200" y="2755900"/>
            <a:ext cx="3365500" cy="30099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306916" y="304800"/>
            <a:ext cx="0" cy="9194800"/>
          </a:xfrm>
          <a:custGeom>
            <a:avLst/>
            <a:gdLst/>
            <a:ahLst/>
            <a:cxnLst/>
            <a:rect l="l" t="t" r="r" b="b"/>
            <a:pathLst>
              <a:path w="0" h="9194800">
                <a:moveTo>
                  <a:pt x="0" y="9194800"/>
                </a:moveTo>
                <a:lnTo>
                  <a:pt x="0" y="0"/>
                </a:lnTo>
              </a:path>
            </a:pathLst>
          </a:custGeom>
          <a:ln w="12700">
            <a:solidFill>
              <a:srgbClr val="777C8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300566" y="304800"/>
            <a:ext cx="17035145" cy="9436100"/>
            <a:chOff x="300566" y="304800"/>
            <a:chExt cx="17035145" cy="9436100"/>
          </a:xfrm>
        </p:grpSpPr>
        <p:sp>
          <p:nvSpPr>
            <p:cNvPr id="8" name="object 8" descr=""/>
            <p:cNvSpPr/>
            <p:nvPr/>
          </p:nvSpPr>
          <p:spPr>
            <a:xfrm>
              <a:off x="17109021" y="304800"/>
              <a:ext cx="0" cy="9194800"/>
            </a:xfrm>
            <a:custGeom>
              <a:avLst/>
              <a:gdLst/>
              <a:ahLst/>
              <a:cxnLst/>
              <a:rect l="l" t="t" r="r" b="b"/>
              <a:pathLst>
                <a:path w="0" h="9194800">
                  <a:moveTo>
                    <a:pt x="0" y="9194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77C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0566" y="311150"/>
              <a:ext cx="16814800" cy="0"/>
            </a:xfrm>
            <a:custGeom>
              <a:avLst/>
              <a:gdLst/>
              <a:ahLst/>
              <a:cxnLst/>
              <a:rect l="l" t="t" r="r" b="b"/>
              <a:pathLst>
                <a:path w="16814800" h="0">
                  <a:moveTo>
                    <a:pt x="0" y="0"/>
                  </a:moveTo>
                  <a:lnTo>
                    <a:pt x="16814800" y="0"/>
                  </a:lnTo>
                </a:path>
              </a:pathLst>
            </a:custGeom>
            <a:ln w="12700">
              <a:solidFill>
                <a:srgbClr val="777C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0566" y="9493250"/>
              <a:ext cx="15697200" cy="0"/>
            </a:xfrm>
            <a:custGeom>
              <a:avLst/>
              <a:gdLst/>
              <a:ahLst/>
              <a:cxnLst/>
              <a:rect l="l" t="t" r="r" b="b"/>
              <a:pathLst>
                <a:path w="15697200" h="0">
                  <a:moveTo>
                    <a:pt x="0" y="0"/>
                  </a:moveTo>
                  <a:lnTo>
                    <a:pt x="15697200" y="0"/>
                  </a:lnTo>
                </a:path>
              </a:pathLst>
            </a:custGeom>
            <a:ln w="12700">
              <a:solidFill>
                <a:srgbClr val="777C8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35000" y="8578850"/>
              <a:ext cx="16205200" cy="0"/>
            </a:xfrm>
            <a:custGeom>
              <a:avLst/>
              <a:gdLst/>
              <a:ahLst/>
              <a:cxnLst/>
              <a:rect l="l" t="t" r="r" b="b"/>
              <a:pathLst>
                <a:path w="16205200" h="0">
                  <a:moveTo>
                    <a:pt x="0" y="0"/>
                  </a:moveTo>
                  <a:lnTo>
                    <a:pt x="16205200" y="0"/>
                  </a:lnTo>
                </a:path>
              </a:pathLst>
            </a:custGeom>
            <a:ln w="38100">
              <a:solidFill>
                <a:srgbClr val="79797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96900" y="1320800"/>
              <a:ext cx="16281400" cy="0"/>
            </a:xfrm>
            <a:custGeom>
              <a:avLst/>
              <a:gdLst/>
              <a:ahLst/>
              <a:cxnLst/>
              <a:rect l="l" t="t" r="r" b="b"/>
              <a:pathLst>
                <a:path w="16281400" h="0">
                  <a:moveTo>
                    <a:pt x="0" y="0"/>
                  </a:moveTo>
                  <a:lnTo>
                    <a:pt x="16281400" y="0"/>
                  </a:lnTo>
                </a:path>
              </a:pathLst>
            </a:custGeom>
            <a:ln w="254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70000" y="9499600"/>
              <a:ext cx="3365500" cy="24130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78699" y="4826000"/>
              <a:ext cx="1168400" cy="165100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7187558" y="1238012"/>
            <a:ext cx="203200" cy="7239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480"/>
              </a:lnSpc>
            </a:pPr>
            <a:r>
              <a:rPr dirty="0" sz="1250" spc="-390">
                <a:solidFill>
                  <a:srgbClr val="6E6E6E"/>
                </a:solidFill>
                <a:latin typeface="Arial MT"/>
                <a:cs typeface="Arial MT"/>
              </a:rPr>
              <a:t>0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736690" y="414513"/>
            <a:ext cx="14912340" cy="6711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200">
                <a:solidFill>
                  <a:srgbClr val="000000"/>
                </a:solidFill>
              </a:rPr>
              <a:t>The</a:t>
            </a:r>
            <a:r>
              <a:rPr dirty="0" sz="4200" spc="-125">
                <a:solidFill>
                  <a:srgbClr val="000000"/>
                </a:solidFill>
              </a:rPr>
              <a:t> </a:t>
            </a:r>
            <a:r>
              <a:rPr dirty="0" sz="4200">
                <a:solidFill>
                  <a:srgbClr val="000000"/>
                </a:solidFill>
              </a:rPr>
              <a:t>Friction</a:t>
            </a:r>
            <a:r>
              <a:rPr dirty="0" sz="4200" spc="-25">
                <a:solidFill>
                  <a:srgbClr val="000000"/>
                </a:solidFill>
              </a:rPr>
              <a:t> </a:t>
            </a:r>
            <a:r>
              <a:rPr dirty="0" sz="4200">
                <a:solidFill>
                  <a:srgbClr val="000000"/>
                </a:solidFill>
              </a:rPr>
              <a:t>Between</a:t>
            </a:r>
            <a:r>
              <a:rPr dirty="0" sz="4200" spc="50">
                <a:solidFill>
                  <a:srgbClr val="000000"/>
                </a:solidFill>
              </a:rPr>
              <a:t> </a:t>
            </a:r>
            <a:r>
              <a:rPr dirty="0" sz="4200">
                <a:solidFill>
                  <a:srgbClr val="000000"/>
                </a:solidFill>
              </a:rPr>
              <a:t>Training</a:t>
            </a:r>
            <a:r>
              <a:rPr dirty="0" sz="4200" spc="85">
                <a:solidFill>
                  <a:srgbClr val="000000"/>
                </a:solidFill>
              </a:rPr>
              <a:t> </a:t>
            </a:r>
            <a:r>
              <a:rPr dirty="0" sz="4200">
                <a:solidFill>
                  <a:srgbClr val="000000"/>
                </a:solidFill>
              </a:rPr>
              <a:t>Velocity</a:t>
            </a:r>
            <a:r>
              <a:rPr dirty="0" sz="4200" spc="120">
                <a:solidFill>
                  <a:srgbClr val="000000"/>
                </a:solidFill>
              </a:rPr>
              <a:t> </a:t>
            </a:r>
            <a:r>
              <a:rPr dirty="0" sz="4200">
                <a:solidFill>
                  <a:srgbClr val="000000"/>
                </a:solidFill>
              </a:rPr>
              <a:t>and</a:t>
            </a:r>
            <a:r>
              <a:rPr dirty="0" sz="4200" spc="-85">
                <a:solidFill>
                  <a:srgbClr val="000000"/>
                </a:solidFill>
              </a:rPr>
              <a:t> </a:t>
            </a:r>
            <a:r>
              <a:rPr dirty="0" sz="4200">
                <a:solidFill>
                  <a:srgbClr val="000000"/>
                </a:solidFill>
              </a:rPr>
              <a:t>Scoring</a:t>
            </a:r>
            <a:r>
              <a:rPr dirty="0" sz="4200" spc="30">
                <a:solidFill>
                  <a:srgbClr val="000000"/>
                </a:solidFill>
              </a:rPr>
              <a:t> </a:t>
            </a:r>
            <a:r>
              <a:rPr dirty="0" sz="4200" spc="-10">
                <a:solidFill>
                  <a:srgbClr val="000000"/>
                </a:solidFill>
              </a:rPr>
              <a:t>Availability</a:t>
            </a:r>
            <a:endParaRPr sz="4200"/>
          </a:p>
        </p:txBody>
      </p:sp>
      <p:sp>
        <p:nvSpPr>
          <p:cNvPr id="17" name="object 17" descr=""/>
          <p:cNvSpPr txBox="1"/>
          <p:nvPr/>
        </p:nvSpPr>
        <p:spPr>
          <a:xfrm>
            <a:off x="17202543" y="414513"/>
            <a:ext cx="109855" cy="671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200" spc="-795">
                <a:solidFill>
                  <a:srgbClr val="696969"/>
                </a:solidFill>
                <a:latin typeface="Arial MT"/>
                <a:cs typeface="Arial MT"/>
              </a:rPr>
              <a:t>”</a:t>
            </a:r>
            <a:endParaRPr sz="42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4180" y="1546930"/>
            <a:ext cx="5352415" cy="607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76275" algn="l"/>
              </a:tabLst>
            </a:pPr>
            <a:r>
              <a:rPr dirty="0" sz="3800" spc="-50">
                <a:solidFill>
                  <a:srgbClr val="858585"/>
                </a:solidFill>
                <a:latin typeface="Arial MT"/>
                <a:cs typeface="Arial MT"/>
              </a:rPr>
              <a:t>1</a:t>
            </a:r>
            <a:r>
              <a:rPr dirty="0" sz="3800">
                <a:solidFill>
                  <a:srgbClr val="858585"/>
                </a:solidFill>
                <a:latin typeface="Arial MT"/>
                <a:cs typeface="Arial MT"/>
              </a:rPr>
              <a:t>	</a:t>
            </a:r>
            <a:r>
              <a:rPr dirty="0" sz="3800" spc="-229">
                <a:latin typeface="Arial MT"/>
                <a:cs typeface="Arial MT"/>
              </a:rPr>
              <a:t>The</a:t>
            </a:r>
            <a:r>
              <a:rPr dirty="0" sz="3800" spc="-70">
                <a:latin typeface="Arial MT"/>
                <a:cs typeface="Arial MT"/>
              </a:rPr>
              <a:t> </a:t>
            </a:r>
            <a:r>
              <a:rPr dirty="0" sz="3800" spc="-130">
                <a:latin typeface="Arial MT"/>
                <a:cs typeface="Arial MT"/>
              </a:rPr>
              <a:t>Latency</a:t>
            </a:r>
            <a:r>
              <a:rPr dirty="0" sz="3800" spc="-95">
                <a:latin typeface="Arial MT"/>
                <a:cs typeface="Arial MT"/>
              </a:rPr>
              <a:t> </a:t>
            </a:r>
            <a:r>
              <a:rPr dirty="0" sz="3800" spc="-125">
                <a:latin typeface="Arial MT"/>
                <a:cs typeface="Arial MT"/>
              </a:rPr>
              <a:t>Bottleneck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85083" y="3596922"/>
            <a:ext cx="668020" cy="46164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 marR="5080" indent="-635">
              <a:lnSpc>
                <a:spcPts val="1600"/>
              </a:lnSpc>
              <a:spcBef>
                <a:spcPts val="345"/>
              </a:spcBef>
            </a:pPr>
            <a:r>
              <a:rPr dirty="0" sz="1500" spc="-295">
                <a:latin typeface="Arial MT"/>
                <a:cs typeface="Arial MT"/>
              </a:rPr>
              <a:t>SCORING</a:t>
            </a:r>
            <a:r>
              <a:rPr dirty="0" sz="1500" spc="500">
                <a:latin typeface="Arial MT"/>
                <a:cs typeface="Arial MT"/>
              </a:rPr>
              <a:t> </a:t>
            </a:r>
            <a:r>
              <a:rPr dirty="0" sz="1500" spc="-325">
                <a:latin typeface="Arial MT"/>
                <a:cs typeface="Arial MT"/>
              </a:rPr>
              <a:t>QEQUE8T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085734" y="2450041"/>
            <a:ext cx="1245870" cy="45085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7305" marR="5080" indent="-15240">
              <a:lnSpc>
                <a:spcPts val="1600"/>
              </a:lnSpc>
              <a:spcBef>
                <a:spcPts val="275"/>
              </a:spcBef>
            </a:pPr>
            <a:r>
              <a:rPr dirty="0" sz="1450" spc="-75">
                <a:latin typeface="Arial MT"/>
                <a:cs typeface="Arial MT"/>
              </a:rPr>
              <a:t>L0N0</a:t>
            </a:r>
            <a:r>
              <a:rPr dirty="0" sz="1450" spc="150">
                <a:latin typeface="Arial MT"/>
                <a:cs typeface="Arial MT"/>
              </a:rPr>
              <a:t> </a:t>
            </a:r>
            <a:r>
              <a:rPr dirty="0" sz="1450" spc="-225">
                <a:latin typeface="Arial MT"/>
                <a:cs typeface="Arial MT"/>
              </a:rPr>
              <a:t>DUFIATION</a:t>
            </a:r>
            <a:r>
              <a:rPr dirty="0" sz="1450" spc="-114">
                <a:latin typeface="Arial MT"/>
                <a:cs typeface="Arial MT"/>
              </a:rPr>
              <a:t> (\YAIT</a:t>
            </a:r>
            <a:r>
              <a:rPr dirty="0" sz="1450" spc="-235">
                <a:latin typeface="Arial MT"/>
                <a:cs typeface="Arial MT"/>
              </a:rPr>
              <a:t> </a:t>
            </a:r>
            <a:r>
              <a:rPr dirty="0" sz="1450" spc="-275">
                <a:latin typeface="Arial MT"/>
                <a:cs typeface="Arial MT"/>
              </a:rPr>
              <a:t>FNC</a:t>
            </a:r>
            <a:r>
              <a:rPr dirty="0" sz="1450" spc="355">
                <a:latin typeface="Arial MT"/>
                <a:cs typeface="Arial MT"/>
              </a:rPr>
              <a:t> </a:t>
            </a:r>
            <a:r>
              <a:rPr dirty="0" sz="1450" spc="-310">
                <a:solidFill>
                  <a:srgbClr val="0C0C0C"/>
                </a:solidFill>
                <a:latin typeface="Arial MT"/>
                <a:cs typeface="Arial MT"/>
              </a:rPr>
              <a:t>FOR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58125" y="6572250"/>
            <a:ext cx="7316470" cy="149860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1590" marR="5080" indent="-9525">
              <a:lnSpc>
                <a:spcPct val="95000"/>
              </a:lnSpc>
              <a:spcBef>
                <a:spcPts val="250"/>
              </a:spcBef>
            </a:pPr>
            <a:r>
              <a:rPr dirty="0" sz="2500" spc="-70">
                <a:latin typeface="Arial MT"/>
                <a:cs typeface="Arial MT"/>
              </a:rPr>
              <a:t>When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pipeline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coupling</a:t>
            </a:r>
            <a:r>
              <a:rPr dirty="0" sz="2500" spc="-3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114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tight,</a:t>
            </a:r>
            <a:r>
              <a:rPr dirty="0" sz="2500" spc="-12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scoring</a:t>
            </a:r>
            <a:r>
              <a:rPr dirty="0" sz="2500" spc="-12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requests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stall </a:t>
            </a:r>
            <a:r>
              <a:rPr dirty="0" sz="2500">
                <a:latin typeface="Arial MT"/>
                <a:cs typeface="Arial MT"/>
              </a:rPr>
              <a:t>while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waiting</a:t>
            </a:r>
            <a:r>
              <a:rPr dirty="0" sz="2500" spc="-12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12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training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completion.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 spc="-30">
                <a:latin typeface="Arial MT"/>
                <a:cs typeface="Arial MT"/>
              </a:rPr>
              <a:t>This</a:t>
            </a:r>
            <a:r>
              <a:rPr dirty="0" sz="2500" spc="-14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creates </a:t>
            </a:r>
            <a:r>
              <a:rPr dirty="0" sz="2500" spc="-25">
                <a:latin typeface="Arial MT"/>
                <a:cs typeface="Arial MT"/>
              </a:rPr>
              <a:t>unacceptable </a:t>
            </a:r>
            <a:r>
              <a:rPr dirty="0" sz="2500">
                <a:latin typeface="Arial MT"/>
                <a:cs typeface="Arial MT"/>
              </a:rPr>
              <a:t>latency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1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production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environments.</a:t>
            </a:r>
            <a:endParaRPr sz="2500">
              <a:latin typeface="Arial MT"/>
              <a:cs typeface="Arial MT"/>
            </a:endParaRPr>
          </a:p>
          <a:p>
            <a:pPr marL="14604">
              <a:lnSpc>
                <a:spcPts val="2900"/>
              </a:lnSpc>
            </a:pPr>
            <a:r>
              <a:rPr dirty="0" sz="2500" spc="-35">
                <a:latin typeface="Arial MT"/>
                <a:cs typeface="Arial MT"/>
              </a:rPr>
              <a:t>Scoring</a:t>
            </a:r>
            <a:r>
              <a:rPr dirty="0" sz="2500" spc="-12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must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never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wait</a:t>
            </a:r>
            <a:r>
              <a:rPr dirty="0" sz="2500" spc="-2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Training.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180240" y="4062941"/>
            <a:ext cx="682625" cy="45085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275"/>
              </a:spcBef>
            </a:pPr>
            <a:r>
              <a:rPr dirty="0" sz="1450" spc="-240">
                <a:latin typeface="Arial MT"/>
                <a:cs typeface="Arial MT"/>
              </a:rPr>
              <a:t>UNIFORM</a:t>
            </a:r>
            <a:r>
              <a:rPr dirty="0" sz="1450" spc="500">
                <a:latin typeface="Arial MT"/>
                <a:cs typeface="Arial MT"/>
              </a:rPr>
              <a:t> </a:t>
            </a:r>
            <a:r>
              <a:rPr dirty="0" sz="1450" spc="-295">
                <a:latin typeface="Arial MT"/>
                <a:cs typeface="Arial MT"/>
              </a:rPr>
              <a:t>REQUEST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133251" y="1573388"/>
            <a:ext cx="5822950" cy="13804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848100" algn="l"/>
              </a:tabLst>
            </a:pPr>
            <a:r>
              <a:rPr dirty="0" sz="3600" spc="-45">
                <a:latin typeface="Arial MT"/>
                <a:cs typeface="Arial MT"/>
              </a:rPr>
              <a:t>The</a:t>
            </a:r>
            <a:r>
              <a:rPr dirty="0" sz="3600" spc="-200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Heterogeneity</a:t>
            </a:r>
            <a:r>
              <a:rPr dirty="0" sz="3600">
                <a:latin typeface="Arial MT"/>
                <a:cs typeface="Arial MT"/>
              </a:rPr>
              <a:t>	</a:t>
            </a:r>
            <a:r>
              <a:rPr dirty="0" sz="3600" spc="-85">
                <a:latin typeface="Arial MT"/>
                <a:cs typeface="Arial MT"/>
              </a:rPr>
              <a:t>Challenge</a:t>
            </a:r>
            <a:endParaRPr sz="3600">
              <a:latin typeface="Arial MT"/>
              <a:cs typeface="Arial MT"/>
            </a:endParaRPr>
          </a:p>
          <a:p>
            <a:pPr algn="ctr" marL="1748789">
              <a:lnSpc>
                <a:spcPts val="1600"/>
              </a:lnSpc>
              <a:spcBef>
                <a:spcPts val="3130"/>
              </a:spcBef>
            </a:pPr>
            <a:r>
              <a:rPr dirty="0" sz="1500" spc="-254">
                <a:latin typeface="Arial MT"/>
                <a:cs typeface="Arial MT"/>
              </a:rPr>
              <a:t>REGION—</a:t>
            </a:r>
            <a:r>
              <a:rPr dirty="0" sz="1500" spc="-85">
                <a:latin typeface="Arial MT"/>
                <a:cs typeface="Arial MT"/>
              </a:rPr>
              <a:t>SPECIFIC</a:t>
            </a:r>
            <a:endParaRPr sz="1500">
              <a:latin typeface="Arial MT"/>
              <a:cs typeface="Arial MT"/>
            </a:endParaRPr>
          </a:p>
          <a:p>
            <a:pPr algn="ctr" marL="1761489">
              <a:lnSpc>
                <a:spcPts val="1600"/>
              </a:lnSpc>
            </a:pPr>
            <a:r>
              <a:rPr dirty="0" sz="1500" spc="-10">
                <a:latin typeface="Arial MT"/>
                <a:cs typeface="Arial MT"/>
              </a:rPr>
              <a:t>ppICIN$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5831501" y="2517422"/>
            <a:ext cx="764540" cy="46164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29845" marR="5080" indent="-17780">
              <a:lnSpc>
                <a:spcPts val="1600"/>
              </a:lnSpc>
              <a:spcBef>
                <a:spcPts val="345"/>
              </a:spcBef>
            </a:pPr>
            <a:r>
              <a:rPr dirty="0" sz="1500" spc="-180">
                <a:latin typeface="Arial MT"/>
                <a:cs typeface="Arial MT"/>
              </a:rPr>
              <a:t>I4ULTIPLE </a:t>
            </a:r>
            <a:r>
              <a:rPr dirty="0" sz="1500" spc="-280">
                <a:latin typeface="Arial MT"/>
                <a:cs typeface="Arial MT"/>
              </a:rPr>
              <a:t>VERSIONS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5712935" y="5349522"/>
            <a:ext cx="947419" cy="46164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 marR="5080" indent="280035">
              <a:lnSpc>
                <a:spcPts val="1600"/>
              </a:lnSpc>
              <a:spcBef>
                <a:spcPts val="345"/>
              </a:spcBef>
            </a:pPr>
            <a:r>
              <a:rPr dirty="0" sz="1500" spc="-340">
                <a:latin typeface="Arial MT"/>
                <a:cs typeface="Arial MT"/>
              </a:rPr>
              <a:t>SYNC</a:t>
            </a:r>
            <a:r>
              <a:rPr dirty="0" sz="1500" spc="-180">
                <a:latin typeface="Arial MT"/>
                <a:cs typeface="Arial MT"/>
              </a:rPr>
              <a:t> C0¥PLEEITY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195872" y="5953125"/>
            <a:ext cx="7332980" cy="2473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125"/>
              </a:spcBef>
              <a:tabLst>
                <a:tab pos="3583940" algn="l"/>
                <a:tab pos="4500880" algn="l"/>
              </a:tabLst>
            </a:pPr>
            <a:r>
              <a:rPr dirty="0" sz="1800" spc="-90">
                <a:latin typeface="Arial MT"/>
                <a:cs typeface="Arial MT"/>
              </a:rPr>
              <a:t>SIf/GLE</a:t>
            </a:r>
            <a:r>
              <a:rPr dirty="0" sz="1800" spc="19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I\0DEL</a:t>
            </a:r>
            <a:r>
              <a:rPr dirty="0" sz="1800">
                <a:latin typeface="Arial MT"/>
                <a:cs typeface="Arial MT"/>
              </a:rPr>
              <a:t>	</a:t>
            </a:r>
            <a:r>
              <a:rPr dirty="0" sz="1850" spc="-375">
                <a:latin typeface="Arial MT"/>
                <a:cs typeface="Arial MT"/>
              </a:rPr>
              <a:t>CLUSTER</a:t>
            </a:r>
            <a:r>
              <a:rPr dirty="0" sz="1850">
                <a:latin typeface="Arial MT"/>
                <a:cs typeface="Arial MT"/>
              </a:rPr>
              <a:t>	</a:t>
            </a:r>
            <a:r>
              <a:rPr dirty="0" sz="1850" spc="-270">
                <a:latin typeface="Arial MT"/>
                <a:cs typeface="Arial MT"/>
              </a:rPr>
              <a:t>I\ODEL</a:t>
            </a:r>
            <a:endParaRPr sz="1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800">
              <a:latin typeface="Arial MT"/>
              <a:cs typeface="Arial MT"/>
            </a:endParaRPr>
          </a:p>
          <a:p>
            <a:pPr marL="12700" marR="5080" indent="8255">
              <a:lnSpc>
                <a:spcPct val="95000"/>
              </a:lnSpc>
            </a:pPr>
            <a:r>
              <a:rPr dirty="0" sz="2500" spc="-35">
                <a:latin typeface="Arial MT"/>
                <a:cs typeface="Arial MT"/>
              </a:rPr>
              <a:t>Complexity</a:t>
            </a:r>
            <a:r>
              <a:rPr dirty="0" sz="2500" spc="35">
                <a:latin typeface="Arial MT"/>
                <a:cs typeface="Arial MT"/>
              </a:rPr>
              <a:t> </a:t>
            </a:r>
            <a:r>
              <a:rPr dirty="0" sz="2500" spc="-30">
                <a:latin typeface="Arial MT"/>
                <a:cs typeface="Arial MT"/>
              </a:rPr>
              <a:t>increases</a:t>
            </a:r>
            <a:r>
              <a:rPr dirty="0" sz="2500" spc="-3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when</a:t>
            </a:r>
            <a:r>
              <a:rPr dirty="0" sz="2500" spc="-150">
                <a:latin typeface="Arial MT"/>
                <a:cs typeface="Arial MT"/>
              </a:rPr>
              <a:t> </a:t>
            </a:r>
            <a:r>
              <a:rPr dirty="0" sz="2500" spc="-50">
                <a:latin typeface="Arial MT"/>
                <a:cs typeface="Arial MT"/>
              </a:rPr>
              <a:t>managing</a:t>
            </a:r>
            <a:r>
              <a:rPr dirty="0" sz="2500" spc="-114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‘Cluster’ </a:t>
            </a:r>
            <a:r>
              <a:rPr dirty="0" sz="2500" spc="-85">
                <a:latin typeface="Arial MT"/>
                <a:cs typeface="Arial MT"/>
              </a:rPr>
              <a:t>models—</a:t>
            </a:r>
            <a:r>
              <a:rPr dirty="0" sz="2500" spc="-10">
                <a:latin typeface="Arial MT"/>
                <a:cs typeface="Arial MT"/>
              </a:rPr>
              <a:t>groups</a:t>
            </a:r>
            <a:r>
              <a:rPr dirty="0" sz="2500" spc="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models</a:t>
            </a:r>
            <a:r>
              <a:rPr dirty="0" sz="2500" spc="2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serving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 spc="-35">
                <a:latin typeface="Arial MT"/>
                <a:cs typeface="Arial MT"/>
              </a:rPr>
              <a:t>single</a:t>
            </a:r>
            <a:r>
              <a:rPr dirty="0" sz="2500" spc="-14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use</a:t>
            </a:r>
            <a:r>
              <a:rPr dirty="0" sz="2500" spc="-16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case </a:t>
            </a:r>
            <a:r>
              <a:rPr dirty="0" sz="2500" spc="-50">
                <a:latin typeface="Arial MT"/>
                <a:cs typeface="Arial MT"/>
              </a:rPr>
              <a:t>(e.g.,</a:t>
            </a:r>
            <a:r>
              <a:rPr dirty="0" sz="2500" spc="-1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region-specific</a:t>
            </a:r>
            <a:r>
              <a:rPr dirty="0" sz="2500" spc="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pricing).</a:t>
            </a:r>
            <a:r>
              <a:rPr dirty="0" sz="2500" spc="4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Synchronising</a:t>
            </a:r>
            <a:r>
              <a:rPr dirty="0" sz="2500" spc="3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their </a:t>
            </a:r>
            <a:r>
              <a:rPr dirty="0" sz="2500">
                <a:latin typeface="Arial MT"/>
                <a:cs typeface="Arial MT"/>
              </a:rPr>
              <a:t>updates</a:t>
            </a:r>
            <a:r>
              <a:rPr dirty="0" sz="2500" spc="1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without</a:t>
            </a:r>
            <a:r>
              <a:rPr dirty="0" sz="2500" spc="1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registry</a:t>
            </a:r>
            <a:r>
              <a:rPr dirty="0" sz="2500" spc="2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pattern</a:t>
            </a:r>
            <a:r>
              <a:rPr dirty="0" sz="2500" spc="-1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invites</a:t>
            </a:r>
            <a:r>
              <a:rPr dirty="0" sz="2500" spc="-1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versioning errors.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986458" y="8794750"/>
            <a:ext cx="13507719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40">
                <a:latin typeface="Arial MT"/>
                <a:cs typeface="Arial MT"/>
              </a:rPr>
              <a:t>The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objective</a:t>
            </a:r>
            <a:r>
              <a:rPr dirty="0" sz="2500" spc="12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13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isolate</a:t>
            </a:r>
            <a:r>
              <a:rPr dirty="0" sz="2500" spc="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2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inference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layer</a:t>
            </a:r>
            <a:r>
              <a:rPr dirty="0" sz="2500" spc="1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volatility</a:t>
            </a:r>
            <a:r>
              <a:rPr dirty="0" sz="2500" spc="13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duration</a:t>
            </a:r>
            <a:r>
              <a:rPr dirty="0" sz="2500" spc="13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training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layer.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60400" y="8570383"/>
            <a:ext cx="16171544" cy="0"/>
          </a:xfrm>
          <a:custGeom>
            <a:avLst/>
            <a:gdLst/>
            <a:ahLst/>
            <a:cxnLst/>
            <a:rect l="l" t="t" r="r" b="b"/>
            <a:pathLst>
              <a:path w="16171544" h="0">
                <a:moveTo>
                  <a:pt x="0" y="0"/>
                </a:moveTo>
                <a:lnTo>
                  <a:pt x="16171334" y="0"/>
                </a:lnTo>
              </a:path>
            </a:pathLst>
          </a:custGeom>
          <a:ln w="4233">
            <a:solidFill>
              <a:srgbClr val="74777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2146300" y="4241800"/>
            <a:ext cx="2163445" cy="1701800"/>
            <a:chOff x="2146300" y="4241800"/>
            <a:chExt cx="2163445" cy="1701800"/>
          </a:xfrm>
        </p:grpSpPr>
        <p:sp>
          <p:nvSpPr>
            <p:cNvPr id="4" name="object 4" descr=""/>
            <p:cNvSpPr/>
            <p:nvPr/>
          </p:nvSpPr>
          <p:spPr>
            <a:xfrm>
              <a:off x="2146300" y="5928783"/>
              <a:ext cx="2163445" cy="0"/>
            </a:xfrm>
            <a:custGeom>
              <a:avLst/>
              <a:gdLst/>
              <a:ahLst/>
              <a:cxnLst/>
              <a:rect l="l" t="t" r="r" b="b"/>
              <a:pathLst>
                <a:path w="2163445" h="0">
                  <a:moveTo>
                    <a:pt x="0" y="0"/>
                  </a:moveTo>
                  <a:lnTo>
                    <a:pt x="2163233" y="0"/>
                  </a:lnTo>
                </a:path>
              </a:pathLst>
            </a:custGeom>
            <a:ln w="29633">
              <a:solidFill>
                <a:srgbClr val="AF6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7900" y="4241800"/>
              <a:ext cx="1943100" cy="1676400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6700" y="3860800"/>
            <a:ext cx="1600200" cy="20447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31800" y="4013200"/>
            <a:ext cx="1752600" cy="17907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65500" y="6959600"/>
            <a:ext cx="12700" cy="7620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200" y="5613400"/>
            <a:ext cx="12700" cy="2667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32000" y="3822700"/>
            <a:ext cx="863600" cy="1397000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9804400" y="4445000"/>
            <a:ext cx="4394200" cy="876300"/>
            <a:chOff x="9804400" y="4445000"/>
            <a:chExt cx="4394200" cy="876300"/>
          </a:xfrm>
        </p:grpSpPr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58800" y="5156200"/>
              <a:ext cx="165100" cy="16510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04400" y="4445000"/>
              <a:ext cx="4394200" cy="800100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7800" y="4864100"/>
            <a:ext cx="165100" cy="698500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2374900" y="3784600"/>
            <a:ext cx="5918200" cy="2044700"/>
            <a:chOff x="2374900" y="3784600"/>
            <a:chExt cx="5918200" cy="2044700"/>
          </a:xfrm>
        </p:grpSpPr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22600" y="3784600"/>
              <a:ext cx="5270500" cy="14605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74900" y="5232400"/>
              <a:ext cx="1689100" cy="59690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13700" y="5384800"/>
              <a:ext cx="279400" cy="203200"/>
            </a:xfrm>
            <a:prstGeom prst="rect">
              <a:avLst/>
            </a:prstGeom>
          </p:spPr>
        </p:pic>
      </p:grpSp>
      <p:pic>
        <p:nvPicPr>
          <p:cNvPr id="19" name="object 1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033500" y="6959600"/>
            <a:ext cx="88900" cy="762000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30912" y="412044"/>
            <a:ext cx="15763875" cy="6819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300" spc="-55">
                <a:solidFill>
                  <a:srgbClr val="000000"/>
                </a:solidFill>
              </a:rPr>
              <a:t>High-</a:t>
            </a:r>
            <a:r>
              <a:rPr dirty="0" sz="4300">
                <a:solidFill>
                  <a:srgbClr val="000000"/>
                </a:solidFill>
              </a:rPr>
              <a:t>Level</a:t>
            </a:r>
            <a:r>
              <a:rPr dirty="0" sz="4300" spc="25">
                <a:solidFill>
                  <a:srgbClr val="000000"/>
                </a:solidFill>
              </a:rPr>
              <a:t> </a:t>
            </a:r>
            <a:r>
              <a:rPr dirty="0" sz="4300">
                <a:solidFill>
                  <a:srgbClr val="000000"/>
                </a:solidFill>
              </a:rPr>
              <a:t>Architecture:</a:t>
            </a:r>
            <a:r>
              <a:rPr dirty="0" sz="4300" spc="75">
                <a:solidFill>
                  <a:srgbClr val="000000"/>
                </a:solidFill>
              </a:rPr>
              <a:t> </a:t>
            </a:r>
            <a:r>
              <a:rPr dirty="0" sz="4300" spc="-40">
                <a:solidFill>
                  <a:srgbClr val="000000"/>
                </a:solidFill>
              </a:rPr>
              <a:t>The</a:t>
            </a:r>
            <a:r>
              <a:rPr dirty="0" sz="4300" spc="-260">
                <a:solidFill>
                  <a:srgbClr val="000000"/>
                </a:solidFill>
              </a:rPr>
              <a:t> </a:t>
            </a:r>
            <a:r>
              <a:rPr dirty="0" sz="4300">
                <a:solidFill>
                  <a:srgbClr val="000000"/>
                </a:solidFill>
              </a:rPr>
              <a:t>Registry</a:t>
            </a:r>
            <a:r>
              <a:rPr dirty="0" sz="4300" spc="-40">
                <a:solidFill>
                  <a:srgbClr val="000000"/>
                </a:solidFill>
              </a:rPr>
              <a:t> </a:t>
            </a:r>
            <a:r>
              <a:rPr dirty="0" sz="4300">
                <a:solidFill>
                  <a:srgbClr val="000000"/>
                </a:solidFill>
              </a:rPr>
              <a:t>as</a:t>
            </a:r>
            <a:r>
              <a:rPr dirty="0" sz="4300" spc="-260">
                <a:solidFill>
                  <a:srgbClr val="000000"/>
                </a:solidFill>
              </a:rPr>
              <a:t> </a:t>
            </a:r>
            <a:r>
              <a:rPr dirty="0" sz="4300">
                <a:solidFill>
                  <a:srgbClr val="000000"/>
                </a:solidFill>
              </a:rPr>
              <a:t>an</a:t>
            </a:r>
            <a:r>
              <a:rPr dirty="0" sz="4300" spc="-160">
                <a:solidFill>
                  <a:srgbClr val="000000"/>
                </a:solidFill>
              </a:rPr>
              <a:t> </a:t>
            </a:r>
            <a:r>
              <a:rPr dirty="0" sz="4300" spc="-30">
                <a:solidFill>
                  <a:srgbClr val="000000"/>
                </a:solidFill>
              </a:rPr>
              <a:t>Asynchronous</a:t>
            </a:r>
            <a:r>
              <a:rPr dirty="0" sz="4300" spc="80">
                <a:solidFill>
                  <a:srgbClr val="000000"/>
                </a:solidFill>
              </a:rPr>
              <a:t> </a:t>
            </a:r>
            <a:r>
              <a:rPr dirty="0" sz="4300" spc="-10">
                <a:solidFill>
                  <a:srgbClr val="000000"/>
                </a:solidFill>
              </a:rPr>
              <a:t>Bridge</a:t>
            </a:r>
            <a:endParaRPr sz="4300"/>
          </a:p>
        </p:txBody>
      </p:sp>
      <p:sp>
        <p:nvSpPr>
          <p:cNvPr id="21" name="object 21" descr=""/>
          <p:cNvSpPr txBox="1"/>
          <p:nvPr/>
        </p:nvSpPr>
        <p:spPr>
          <a:xfrm>
            <a:off x="1891534" y="1949097"/>
            <a:ext cx="2900680" cy="995044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 marR="5080" indent="193675">
              <a:lnSpc>
                <a:spcPts val="3550"/>
              </a:lnSpc>
              <a:spcBef>
                <a:spcPts val="660"/>
              </a:spcBef>
            </a:pPr>
            <a:r>
              <a:rPr dirty="0" sz="3400" spc="-95">
                <a:latin typeface="Arial MT"/>
                <a:cs typeface="Arial MT"/>
              </a:rPr>
              <a:t>Training</a:t>
            </a:r>
            <a:r>
              <a:rPr dirty="0" sz="3400" spc="-100">
                <a:latin typeface="Arial MT"/>
                <a:cs typeface="Arial MT"/>
              </a:rPr>
              <a:t> </a:t>
            </a:r>
            <a:r>
              <a:rPr dirty="0" sz="3400" spc="-20">
                <a:latin typeface="Arial MT"/>
                <a:cs typeface="Arial MT"/>
              </a:rPr>
              <a:t>Zone </a:t>
            </a:r>
            <a:r>
              <a:rPr dirty="0" sz="3400" spc="-95">
                <a:latin typeface="Arial MT"/>
                <a:cs typeface="Arial MT"/>
              </a:rPr>
              <a:t>(Asynchronous)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333271" y="1940277"/>
            <a:ext cx="2752725" cy="101219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247015" marR="5080" indent="-234950">
              <a:lnSpc>
                <a:spcPts val="3600"/>
              </a:lnSpc>
              <a:spcBef>
                <a:spcPts val="690"/>
              </a:spcBef>
            </a:pPr>
            <a:r>
              <a:rPr dirty="0" sz="3450" spc="-80">
                <a:latin typeface="Arial MT"/>
                <a:cs typeface="Arial MT"/>
              </a:rPr>
              <a:t>Model</a:t>
            </a:r>
            <a:r>
              <a:rPr dirty="0" sz="3450" spc="-150">
                <a:latin typeface="Arial MT"/>
                <a:cs typeface="Arial MT"/>
              </a:rPr>
              <a:t> </a:t>
            </a:r>
            <a:r>
              <a:rPr dirty="0" sz="3450" spc="-130">
                <a:latin typeface="Arial MT"/>
                <a:cs typeface="Arial MT"/>
              </a:rPr>
              <a:t>Registry </a:t>
            </a:r>
            <a:r>
              <a:rPr dirty="0" sz="3450" spc="-114">
                <a:latin typeface="Arial MT"/>
                <a:cs typeface="Arial MT"/>
              </a:rPr>
              <a:t>(State</a:t>
            </a:r>
            <a:r>
              <a:rPr dirty="0" sz="3450" spc="-95">
                <a:latin typeface="Arial MT"/>
                <a:cs typeface="Arial MT"/>
              </a:rPr>
              <a:t> </a:t>
            </a:r>
            <a:r>
              <a:rPr dirty="0" sz="3450" spc="-10">
                <a:latin typeface="Arial MT"/>
                <a:cs typeface="Arial MT"/>
              </a:rPr>
              <a:t>Store)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480410" y="5128330"/>
            <a:ext cx="1050925" cy="7442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R="7620">
              <a:lnSpc>
                <a:spcPts val="2905"/>
              </a:lnSpc>
              <a:spcBef>
                <a:spcPts val="120"/>
              </a:spcBef>
            </a:pPr>
            <a:r>
              <a:rPr dirty="0" sz="2550" spc="-595">
                <a:latin typeface="Arial MT"/>
                <a:cs typeface="Arial MT"/>
              </a:rPr>
              <a:t>PUSH</a:t>
            </a:r>
            <a:endParaRPr sz="2550">
              <a:latin typeface="Arial MT"/>
              <a:cs typeface="Arial MT"/>
            </a:endParaRPr>
          </a:p>
          <a:p>
            <a:pPr algn="ctr">
              <a:lnSpc>
                <a:spcPts val="2725"/>
              </a:lnSpc>
            </a:pPr>
            <a:r>
              <a:rPr dirty="0" sz="2400" spc="300">
                <a:latin typeface="Arial MT"/>
                <a:cs typeface="Arial MT"/>
              </a:rPr>
              <a:t>(mite)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005443" y="5163608"/>
            <a:ext cx="887094" cy="7067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35255">
              <a:lnSpc>
                <a:spcPts val="2655"/>
              </a:lnSpc>
              <a:spcBef>
                <a:spcPts val="90"/>
              </a:spcBef>
            </a:pPr>
            <a:r>
              <a:rPr dirty="0" sz="2300" spc="-305">
                <a:latin typeface="Arial MT"/>
                <a:cs typeface="Arial MT"/>
              </a:rPr>
              <a:t>POLL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ts val="2715"/>
              </a:lnSpc>
            </a:pPr>
            <a:r>
              <a:rPr dirty="0" sz="2350" spc="-70">
                <a:latin typeface="Arial MT"/>
                <a:cs typeface="Arial MT"/>
              </a:rPr>
              <a:t>(Read)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2735077" y="1940277"/>
            <a:ext cx="2791460" cy="100774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ts val="3795"/>
              </a:lnSpc>
              <a:spcBef>
                <a:spcPts val="120"/>
              </a:spcBef>
            </a:pPr>
            <a:r>
              <a:rPr dirty="0" sz="3450" spc="-75">
                <a:latin typeface="Arial MT"/>
                <a:cs typeface="Arial MT"/>
              </a:rPr>
              <a:t>Inference</a:t>
            </a:r>
            <a:r>
              <a:rPr dirty="0" sz="3450" spc="-140">
                <a:latin typeface="Arial MT"/>
                <a:cs typeface="Arial MT"/>
              </a:rPr>
              <a:t> </a:t>
            </a:r>
            <a:r>
              <a:rPr dirty="0" sz="3450" spc="-114">
                <a:latin typeface="Arial MT"/>
                <a:cs typeface="Arial MT"/>
              </a:rPr>
              <a:t>Zone</a:t>
            </a:r>
            <a:endParaRPr sz="3450">
              <a:latin typeface="Arial MT"/>
              <a:cs typeface="Arial MT"/>
            </a:endParaRPr>
          </a:p>
          <a:p>
            <a:pPr algn="ctr" marR="36195">
              <a:lnSpc>
                <a:spcPts val="3915"/>
              </a:lnSpc>
            </a:pPr>
            <a:r>
              <a:rPr dirty="0" sz="3550" spc="-220">
                <a:latin typeface="Arial MT"/>
                <a:cs typeface="Arial MT"/>
              </a:rPr>
              <a:t>(Real-</a:t>
            </a:r>
            <a:r>
              <a:rPr dirty="0" sz="3550" spc="-10">
                <a:latin typeface="Arial MT"/>
                <a:cs typeface="Arial MT"/>
              </a:rPr>
              <a:t>time)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224958" y="7327900"/>
            <a:ext cx="6996430" cy="74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9525">
              <a:lnSpc>
                <a:spcPts val="2825"/>
              </a:lnSpc>
              <a:spcBef>
                <a:spcPts val="100"/>
              </a:spcBef>
            </a:pPr>
            <a:r>
              <a:rPr dirty="0" sz="2500" spc="-170">
                <a:latin typeface="Arial MT"/>
                <a:cs typeface="Arial MT"/>
              </a:rPr>
              <a:t>The</a:t>
            </a:r>
            <a:r>
              <a:rPr dirty="0" sz="2500" spc="-5">
                <a:latin typeface="Arial MT"/>
                <a:cs typeface="Arial MT"/>
              </a:rPr>
              <a:t> </a:t>
            </a:r>
            <a:r>
              <a:rPr dirty="0" sz="2500" spc="-145">
                <a:latin typeface="Arial MT"/>
                <a:cs typeface="Arial MT"/>
              </a:rPr>
              <a:t>Training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25">
                <a:latin typeface="Arial MT"/>
                <a:cs typeface="Arial MT"/>
              </a:rPr>
              <a:t>Pipeline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145">
                <a:latin typeface="Arial MT"/>
                <a:cs typeface="Arial MT"/>
              </a:rPr>
              <a:t>pushes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 spc="-40">
                <a:latin typeface="Arial MT"/>
                <a:cs typeface="Arial MT"/>
              </a:rPr>
              <a:t>artifacts</a:t>
            </a:r>
            <a:r>
              <a:rPr dirty="0" sz="2500" spc="50">
                <a:latin typeface="Arial MT"/>
                <a:cs typeface="Arial MT"/>
              </a:rPr>
              <a:t> </a:t>
            </a:r>
            <a:r>
              <a:rPr dirty="0" sz="2500" spc="-175">
                <a:latin typeface="Arial MT"/>
                <a:cs typeface="Arial MT"/>
              </a:rPr>
              <a:t>when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ready.</a:t>
            </a:r>
            <a:endParaRPr sz="2500">
              <a:latin typeface="Arial MT"/>
              <a:cs typeface="Arial MT"/>
            </a:endParaRPr>
          </a:p>
          <a:p>
            <a:pPr algn="ctr">
              <a:lnSpc>
                <a:spcPts val="2825"/>
              </a:lnSpc>
            </a:pPr>
            <a:r>
              <a:rPr dirty="0" sz="2500" spc="-195">
                <a:latin typeface="Arial MT"/>
                <a:cs typeface="Arial MT"/>
              </a:rPr>
              <a:t>The</a:t>
            </a:r>
            <a:r>
              <a:rPr dirty="0" sz="2500" spc="-120">
                <a:latin typeface="Arial MT"/>
                <a:cs typeface="Arial MT"/>
              </a:rPr>
              <a:t> </a:t>
            </a:r>
            <a:r>
              <a:rPr dirty="0" sz="2500" spc="-114">
                <a:latin typeface="Arial MT"/>
                <a:cs typeface="Arial MT"/>
              </a:rPr>
              <a:t>Inference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30">
                <a:latin typeface="Arial MT"/>
                <a:cs typeface="Arial MT"/>
              </a:rPr>
              <a:t>Service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 spc="-85">
                <a:latin typeface="Arial MT"/>
                <a:cs typeface="Arial MT"/>
              </a:rPr>
              <a:t>polls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for</a:t>
            </a:r>
            <a:r>
              <a:rPr dirty="0" sz="2500" spc="-125">
                <a:latin typeface="Arial MT"/>
                <a:cs typeface="Arial MT"/>
              </a:rPr>
              <a:t> </a:t>
            </a:r>
            <a:r>
              <a:rPr dirty="0" sz="2500" spc="-45">
                <a:latin typeface="Arial MT"/>
                <a:cs typeface="Arial MT"/>
              </a:rPr>
              <a:t>artifacts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 spc="-165">
                <a:latin typeface="Arial MT"/>
                <a:cs typeface="Arial MT"/>
              </a:rPr>
              <a:t>on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254">
                <a:latin typeface="Arial MT"/>
                <a:cs typeface="Arial MT"/>
              </a:rPr>
              <a:t>a</a:t>
            </a:r>
            <a:r>
              <a:rPr dirty="0" sz="2500" spc="-25">
                <a:latin typeface="Arial MT"/>
                <a:cs typeface="Arial MT"/>
              </a:rPr>
              <a:t> </a:t>
            </a:r>
            <a:r>
              <a:rPr dirty="0" sz="2500" spc="-90">
                <a:latin typeface="Arial MT"/>
                <a:cs typeface="Arial MT"/>
              </a:rPr>
              <a:t>schedule.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4779649" y="5268030"/>
            <a:ext cx="789305" cy="798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050" spc="-810">
                <a:solidFill>
                  <a:srgbClr val="1C46B6"/>
                </a:solidFill>
                <a:latin typeface="Consolas"/>
                <a:cs typeface="Consolas"/>
              </a:rPr>
              <a:t>AÑO</a:t>
            </a:r>
            <a:endParaRPr sz="5050">
              <a:latin typeface="Consolas"/>
              <a:cs typeface="Consola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7253559" y="8417630"/>
            <a:ext cx="83185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610">
                <a:solidFill>
                  <a:srgbClr val="626262"/>
                </a:solidFill>
                <a:latin typeface="Arial MT"/>
                <a:cs typeface="Arial MT"/>
              </a:rPr>
              <a:t>t•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12019" y="8785930"/>
            <a:ext cx="235585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>
                <a:solidFill>
                  <a:srgbClr val="6B6B6B"/>
                </a:solidFill>
                <a:latin typeface="Arial MT"/>
                <a:cs typeface="Arial MT"/>
              </a:rPr>
              <a:t>"</a:t>
            </a:r>
            <a:r>
              <a:rPr dirty="0" sz="2550" spc="-22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2550" spc="-520">
                <a:solidFill>
                  <a:srgbClr val="909090"/>
                </a:solidFill>
                <a:latin typeface="Arial MT"/>
                <a:cs typeface="Arial MT"/>
              </a:rPr>
              <a:t>!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290365" y="8785930"/>
            <a:ext cx="14864715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25">
                <a:latin typeface="Arial MT"/>
                <a:cs typeface="Arial MT"/>
              </a:rPr>
              <a:t>Inference</a:t>
            </a:r>
            <a:r>
              <a:rPr dirty="0" sz="2550" spc="-90">
                <a:latin typeface="Arial MT"/>
                <a:cs typeface="Arial MT"/>
              </a:rPr>
              <a:t> </a:t>
            </a:r>
            <a:r>
              <a:rPr dirty="0" sz="2550" spc="-20">
                <a:latin typeface="Arial MT"/>
                <a:cs typeface="Arial MT"/>
              </a:rPr>
              <a:t>services</a:t>
            </a:r>
            <a:r>
              <a:rPr dirty="0" sz="2550" spc="-75">
                <a:latin typeface="Arial MT"/>
                <a:cs typeface="Arial MT"/>
              </a:rPr>
              <a:t> </a:t>
            </a:r>
            <a:r>
              <a:rPr dirty="0" sz="2550" spc="-40">
                <a:latin typeface="Arial MT"/>
                <a:cs typeface="Arial MT"/>
              </a:rPr>
              <a:t>consume</a:t>
            </a:r>
            <a:r>
              <a:rPr dirty="0" sz="2550" spc="-50">
                <a:latin typeface="Arial MT"/>
                <a:cs typeface="Arial MT"/>
              </a:rPr>
              <a:t> </a:t>
            </a:r>
            <a:r>
              <a:rPr dirty="0" sz="2550" spc="-35">
                <a:latin typeface="Arial MT"/>
                <a:cs typeface="Arial MT"/>
              </a:rPr>
              <a:t>’Artifacts’,</a:t>
            </a:r>
            <a:r>
              <a:rPr dirty="0" sz="2550" spc="-14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not</a:t>
            </a:r>
            <a:r>
              <a:rPr dirty="0" sz="2550" spc="-175">
                <a:latin typeface="Arial MT"/>
                <a:cs typeface="Arial MT"/>
              </a:rPr>
              <a:t> </a:t>
            </a:r>
            <a:r>
              <a:rPr dirty="0" sz="2550" spc="-60">
                <a:latin typeface="Arial MT"/>
                <a:cs typeface="Arial MT"/>
              </a:rPr>
              <a:t>’Pipelines’.</a:t>
            </a:r>
            <a:r>
              <a:rPr dirty="0" sz="2550" spc="-100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This</a:t>
            </a:r>
            <a:r>
              <a:rPr dirty="0" sz="2550" spc="-85">
                <a:latin typeface="Arial MT"/>
                <a:cs typeface="Arial MT"/>
              </a:rPr>
              <a:t> </a:t>
            </a:r>
            <a:r>
              <a:rPr dirty="0" sz="2550" spc="-40">
                <a:latin typeface="Arial MT"/>
                <a:cs typeface="Arial MT"/>
              </a:rPr>
              <a:t>guarantees</a:t>
            </a:r>
            <a:r>
              <a:rPr dirty="0" sz="2550" spc="-5">
                <a:latin typeface="Arial MT"/>
                <a:cs typeface="Arial MT"/>
              </a:rPr>
              <a:t> </a:t>
            </a:r>
            <a:r>
              <a:rPr dirty="0" sz="2550" spc="-55">
                <a:latin typeface="Arial MT"/>
                <a:cs typeface="Arial MT"/>
              </a:rPr>
              <a:t>zero</a:t>
            </a:r>
            <a:r>
              <a:rPr dirty="0" sz="2550" spc="-125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latency</a:t>
            </a:r>
            <a:r>
              <a:rPr dirty="0" sz="2550" spc="-10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impact</a:t>
            </a:r>
            <a:r>
              <a:rPr dirty="0" sz="2550" spc="-6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during</a:t>
            </a:r>
            <a:r>
              <a:rPr dirty="0" sz="2550" spc="-140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training.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6109505" y="9465380"/>
            <a:ext cx="123380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7650" algn="l"/>
              </a:tabLst>
            </a:pPr>
            <a:r>
              <a:rPr dirty="0" sz="1300" spc="-50">
                <a:latin typeface="Arial MT"/>
                <a:cs typeface="Arial MT"/>
              </a:rPr>
              <a:t>“</a:t>
            </a:r>
            <a:r>
              <a:rPr dirty="0" sz="1300">
                <a:latin typeface="Arial MT"/>
                <a:cs typeface="Arial MT"/>
              </a:rPr>
              <a:t>	</a:t>
            </a:r>
            <a:r>
              <a:rPr dirty="0" sz="1300" spc="-10">
                <a:latin typeface="Arial MT"/>
                <a:cs typeface="Arial MT"/>
              </a:rPr>
              <a:t>Nc'tebookLM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9448800"/>
            <a:ext cx="15684500" cy="3048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6600" y="5867400"/>
            <a:ext cx="3416300" cy="2463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9000" y="2324100"/>
            <a:ext cx="2184400" cy="20828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647700" y="8578850"/>
            <a:ext cx="16179800" cy="0"/>
          </a:xfrm>
          <a:custGeom>
            <a:avLst/>
            <a:gdLst/>
            <a:ahLst/>
            <a:cxnLst/>
            <a:rect l="l" t="t" r="r" b="b"/>
            <a:pathLst>
              <a:path w="16179800" h="0">
                <a:moveTo>
                  <a:pt x="0" y="0"/>
                </a:moveTo>
                <a:lnTo>
                  <a:pt x="16179800" y="0"/>
                </a:lnTo>
              </a:path>
            </a:pathLst>
          </a:custGeom>
          <a:ln w="1270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4700" y="4768850"/>
            <a:ext cx="15951200" cy="0"/>
          </a:xfrm>
          <a:custGeom>
            <a:avLst/>
            <a:gdLst/>
            <a:ahLst/>
            <a:cxnLst/>
            <a:rect l="l" t="t" r="r" b="b"/>
            <a:pathLst>
              <a:path w="15951200" h="0">
                <a:moveTo>
                  <a:pt x="0" y="0"/>
                </a:moveTo>
                <a:lnTo>
                  <a:pt x="15951200" y="0"/>
                </a:lnTo>
              </a:path>
            </a:pathLst>
          </a:custGeom>
          <a:ln w="38100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68300" y="277283"/>
            <a:ext cx="347345" cy="0"/>
          </a:xfrm>
          <a:custGeom>
            <a:avLst/>
            <a:gdLst/>
            <a:ahLst/>
            <a:cxnLst/>
            <a:rect l="l" t="t" r="r" b="b"/>
            <a:pathLst>
              <a:path w="347345" h="0">
                <a:moveTo>
                  <a:pt x="0" y="0"/>
                </a:moveTo>
                <a:lnTo>
                  <a:pt x="347133" y="0"/>
                </a:lnTo>
              </a:path>
            </a:pathLst>
          </a:custGeom>
          <a:ln w="4233">
            <a:solidFill>
              <a:srgbClr val="7074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14400" y="277283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4" h="0">
                <a:moveTo>
                  <a:pt x="0" y="0"/>
                </a:moveTo>
                <a:lnTo>
                  <a:pt x="474133" y="0"/>
                </a:lnTo>
              </a:path>
            </a:pathLst>
          </a:custGeom>
          <a:ln w="4233">
            <a:solidFill>
              <a:srgbClr val="7074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527300" y="277283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4" h="0">
                <a:moveTo>
                  <a:pt x="0" y="0"/>
                </a:moveTo>
                <a:lnTo>
                  <a:pt x="474133" y="0"/>
                </a:lnTo>
              </a:path>
            </a:pathLst>
          </a:custGeom>
          <a:ln w="4233">
            <a:solidFill>
              <a:srgbClr val="7074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644900" y="277283"/>
            <a:ext cx="779145" cy="0"/>
          </a:xfrm>
          <a:custGeom>
            <a:avLst/>
            <a:gdLst/>
            <a:ahLst/>
            <a:cxnLst/>
            <a:rect l="l" t="t" r="r" b="b"/>
            <a:pathLst>
              <a:path w="779145" h="0">
                <a:moveTo>
                  <a:pt x="0" y="0"/>
                </a:moveTo>
                <a:lnTo>
                  <a:pt x="778933" y="0"/>
                </a:lnTo>
              </a:path>
            </a:pathLst>
          </a:custGeom>
          <a:ln w="4233">
            <a:solidFill>
              <a:srgbClr val="7074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737100" y="277283"/>
            <a:ext cx="639445" cy="0"/>
          </a:xfrm>
          <a:custGeom>
            <a:avLst/>
            <a:gdLst/>
            <a:ahLst/>
            <a:cxnLst/>
            <a:rect l="l" t="t" r="r" b="b"/>
            <a:pathLst>
              <a:path w="639445" h="0">
                <a:moveTo>
                  <a:pt x="0" y="0"/>
                </a:moveTo>
                <a:lnTo>
                  <a:pt x="639233" y="0"/>
                </a:lnTo>
              </a:path>
            </a:pathLst>
          </a:custGeom>
          <a:ln w="4233">
            <a:solidFill>
              <a:srgbClr val="7074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505700" y="277283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433" y="0"/>
                </a:lnTo>
              </a:path>
            </a:pathLst>
          </a:custGeom>
          <a:ln w="4233">
            <a:solidFill>
              <a:srgbClr val="7074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4008100" y="277283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4" h="0">
                <a:moveTo>
                  <a:pt x="0" y="0"/>
                </a:moveTo>
                <a:lnTo>
                  <a:pt x="3344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0200" y="5829300"/>
            <a:ext cx="12700" cy="2540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132300" y="8928100"/>
            <a:ext cx="12700" cy="2286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129000" y="9499600"/>
            <a:ext cx="1206500" cy="1270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132300" y="8166100"/>
            <a:ext cx="215900" cy="622300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723944" y="394405"/>
            <a:ext cx="11062335" cy="7029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450">
                <a:solidFill>
                  <a:srgbClr val="000000"/>
                </a:solidFill>
              </a:rPr>
              <a:t>Strategy</a:t>
            </a:r>
            <a:r>
              <a:rPr dirty="0" sz="4450" spc="185">
                <a:solidFill>
                  <a:srgbClr val="000000"/>
                </a:solidFill>
              </a:rPr>
              <a:t> </a:t>
            </a:r>
            <a:r>
              <a:rPr dirty="0" sz="4450">
                <a:solidFill>
                  <a:srgbClr val="000000"/>
                </a:solidFill>
              </a:rPr>
              <a:t>for</a:t>
            </a:r>
            <a:r>
              <a:rPr dirty="0" sz="4450" spc="-45">
                <a:solidFill>
                  <a:srgbClr val="000000"/>
                </a:solidFill>
              </a:rPr>
              <a:t> </a:t>
            </a:r>
            <a:r>
              <a:rPr dirty="0" sz="4450" spc="-10">
                <a:solidFill>
                  <a:srgbClr val="000000"/>
                </a:solidFill>
              </a:rPr>
              <a:t>Heterogeneous</a:t>
            </a:r>
            <a:r>
              <a:rPr dirty="0" sz="4450" spc="370">
                <a:solidFill>
                  <a:srgbClr val="000000"/>
                </a:solidFill>
              </a:rPr>
              <a:t> </a:t>
            </a:r>
            <a:r>
              <a:rPr dirty="0" sz="4450">
                <a:solidFill>
                  <a:srgbClr val="000000"/>
                </a:solidFill>
              </a:rPr>
              <a:t>Model</a:t>
            </a:r>
            <a:r>
              <a:rPr dirty="0" sz="4450" spc="-30">
                <a:solidFill>
                  <a:srgbClr val="000000"/>
                </a:solidFill>
              </a:rPr>
              <a:t> </a:t>
            </a:r>
            <a:r>
              <a:rPr dirty="0" sz="4450" spc="40">
                <a:solidFill>
                  <a:srgbClr val="000000"/>
                </a:solidFill>
              </a:rPr>
              <a:t>Artifacts</a:t>
            </a:r>
            <a:endParaRPr sz="4450"/>
          </a:p>
        </p:txBody>
      </p:sp>
      <p:sp>
        <p:nvSpPr>
          <p:cNvPr id="19" name="object 19" descr=""/>
          <p:cNvSpPr txBox="1"/>
          <p:nvPr/>
        </p:nvSpPr>
        <p:spPr>
          <a:xfrm>
            <a:off x="734112" y="2995788"/>
            <a:ext cx="1191260" cy="70294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 marR="5080" indent="227329">
              <a:lnSpc>
                <a:spcPts val="2500"/>
              </a:lnSpc>
              <a:spcBef>
                <a:spcPts val="459"/>
              </a:spcBef>
            </a:pPr>
            <a:r>
              <a:rPr dirty="0" sz="2350" spc="-300">
                <a:latin typeface="Courier New"/>
                <a:cs typeface="Courier New"/>
              </a:rPr>
              <a:t>MODEL </a:t>
            </a:r>
            <a:r>
              <a:rPr dirty="0" sz="2350" spc="-285">
                <a:latin typeface="Courier New"/>
                <a:cs typeface="Courier New"/>
              </a:rPr>
              <a:t>ARTIFACT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567628" y="2869847"/>
            <a:ext cx="138874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90">
                <a:latin typeface="Arial MT"/>
                <a:cs typeface="Arial MT"/>
              </a:rPr>
              <a:t>1:1</a:t>
            </a:r>
            <a:r>
              <a:rPr dirty="0" sz="2150" spc="-90">
                <a:latin typeface="Arial MT"/>
                <a:cs typeface="Arial MT"/>
              </a:rPr>
              <a:t> </a:t>
            </a:r>
            <a:r>
              <a:rPr dirty="0" sz="2150" spc="-65">
                <a:latin typeface="Arial MT"/>
                <a:cs typeface="Arial MT"/>
              </a:rPr>
              <a:t>Mapping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15602" y="1564569"/>
            <a:ext cx="15457805" cy="13347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sz="3650" spc="-380">
                <a:latin typeface="Arial MT"/>
                <a:cs typeface="Arial MT"/>
              </a:rPr>
              <a:t>S</a:t>
            </a:r>
            <a:r>
              <a:rPr dirty="0" baseline="31202" sz="5475" spc="-1110">
                <a:latin typeface="Arial MT"/>
                <a:cs typeface="Arial MT"/>
              </a:rPr>
              <a:t>.</a:t>
            </a:r>
            <a:r>
              <a:rPr dirty="0" sz="3650" spc="-45">
                <a:latin typeface="Arial MT"/>
                <a:cs typeface="Arial MT"/>
              </a:rPr>
              <a:t>ingl</a:t>
            </a:r>
            <a:r>
              <a:rPr dirty="0" sz="3650" spc="-35">
                <a:latin typeface="Arial MT"/>
                <a:cs typeface="Arial MT"/>
              </a:rPr>
              <a:t>e</a:t>
            </a:r>
            <a:r>
              <a:rPr dirty="0" sz="3650" spc="-10">
                <a:latin typeface="Arial MT"/>
                <a:cs typeface="Arial MT"/>
              </a:rPr>
              <a:t> </a:t>
            </a:r>
            <a:r>
              <a:rPr dirty="0" sz="3650">
                <a:latin typeface="Arial MT"/>
                <a:cs typeface="Arial MT"/>
              </a:rPr>
              <a:t>Model</a:t>
            </a:r>
            <a:r>
              <a:rPr dirty="0" sz="3650" spc="75">
                <a:latin typeface="Arial MT"/>
                <a:cs typeface="Arial MT"/>
              </a:rPr>
              <a:t> </a:t>
            </a:r>
            <a:r>
              <a:rPr dirty="0" sz="3650" spc="-10">
                <a:latin typeface="Arial MT"/>
                <a:cs typeface="Arial MT"/>
              </a:rPr>
              <a:t>Approach</a:t>
            </a:r>
            <a:endParaRPr sz="3650">
              <a:latin typeface="Arial MT"/>
              <a:cs typeface="Arial MT"/>
            </a:endParaRPr>
          </a:p>
          <a:p>
            <a:pPr marL="8489315">
              <a:lnSpc>
                <a:spcPct val="100000"/>
              </a:lnSpc>
              <a:spcBef>
                <a:spcPts val="2770"/>
              </a:spcBef>
            </a:pPr>
            <a:r>
              <a:rPr dirty="0" sz="2600" spc="-50">
                <a:latin typeface="Arial MT"/>
                <a:cs typeface="Arial MT"/>
              </a:rPr>
              <a:t>Standard</a:t>
            </a:r>
            <a:r>
              <a:rPr dirty="0" sz="2600" spc="-135">
                <a:latin typeface="Arial MT"/>
                <a:cs typeface="Arial MT"/>
              </a:rPr>
              <a:t> </a:t>
            </a:r>
            <a:r>
              <a:rPr dirty="0" sz="2600" spc="-190">
                <a:latin typeface="Arial MT"/>
                <a:cs typeface="Arial MT"/>
              </a:rPr>
              <a:t>1:1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 spc="-30">
                <a:latin typeface="Arial MT"/>
                <a:cs typeface="Arial MT"/>
              </a:rPr>
              <a:t>mapping.</a:t>
            </a:r>
            <a:r>
              <a:rPr dirty="0" sz="2600" spc="-150">
                <a:latin typeface="Arial MT"/>
                <a:cs typeface="Arial MT"/>
              </a:rPr>
              <a:t> </a:t>
            </a:r>
            <a:r>
              <a:rPr dirty="0" sz="2600" spc="-105">
                <a:latin typeface="Arial MT"/>
                <a:cs typeface="Arial MT"/>
              </a:rPr>
              <a:t>One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training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job</a:t>
            </a:r>
            <a:r>
              <a:rPr dirty="0" sz="2600" spc="-1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produces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269430" y="3116791"/>
            <a:ext cx="200342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65">
                <a:latin typeface="Arial MT"/>
                <a:cs typeface="Arial MT"/>
              </a:rPr>
              <a:t>v1</a:t>
            </a:r>
            <a:r>
              <a:rPr dirty="0" sz="2700" spc="-305">
                <a:latin typeface="Arial MT"/>
                <a:cs typeface="Arial MT"/>
              </a:rPr>
              <a:t> </a:t>
            </a:r>
            <a:r>
              <a:rPr dirty="0" sz="2700" spc="-165">
                <a:latin typeface="Arial MT"/>
                <a:cs typeface="Arial MT"/>
              </a:rPr>
              <a:t>-</a:t>
            </a:r>
            <a:r>
              <a:rPr dirty="0" sz="2700" spc="-270">
                <a:latin typeface="Arial MT"/>
                <a:cs typeface="Arial MT"/>
              </a:rPr>
              <a:t>+</a:t>
            </a:r>
            <a:r>
              <a:rPr dirty="0" sz="2700" spc="14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v2</a:t>
            </a:r>
            <a:r>
              <a:rPr dirty="0" sz="2700" spc="130">
                <a:latin typeface="Arial MT"/>
                <a:cs typeface="Arial MT"/>
              </a:rPr>
              <a:t> </a:t>
            </a:r>
            <a:r>
              <a:rPr dirty="0" sz="2700" spc="-210">
                <a:latin typeface="Arial MT"/>
                <a:cs typeface="Arial MT"/>
              </a:rPr>
              <a:t>-</a:t>
            </a:r>
            <a:r>
              <a:rPr dirty="0" sz="2700" spc="-350">
                <a:latin typeface="Arial MT"/>
                <a:cs typeface="Arial MT"/>
              </a:rPr>
              <a:t>+</a:t>
            </a:r>
            <a:r>
              <a:rPr dirty="0" sz="2700" spc="195">
                <a:latin typeface="Arial MT"/>
                <a:cs typeface="Arial MT"/>
              </a:rPr>
              <a:t> </a:t>
            </a:r>
            <a:r>
              <a:rPr dirty="0" sz="2700" spc="-95">
                <a:latin typeface="Arial MT"/>
                <a:cs typeface="Arial MT"/>
              </a:rPr>
              <a:t>v3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25576" y="5010150"/>
            <a:ext cx="497078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50" spc="-45">
                <a:latin typeface="Arial MT"/>
                <a:cs typeface="Arial MT"/>
              </a:rPr>
              <a:t>Cluster</a:t>
            </a:r>
            <a:r>
              <a:rPr dirty="0" sz="3750" spc="-130">
                <a:latin typeface="Arial MT"/>
                <a:cs typeface="Arial MT"/>
              </a:rPr>
              <a:t> </a:t>
            </a:r>
            <a:r>
              <a:rPr dirty="0" sz="3750" spc="-25">
                <a:latin typeface="Arial MT"/>
                <a:cs typeface="Arial MT"/>
              </a:rPr>
              <a:t>Model</a:t>
            </a:r>
            <a:r>
              <a:rPr dirty="0" sz="3750" spc="-160">
                <a:latin typeface="Arial MT"/>
                <a:cs typeface="Arial MT"/>
              </a:rPr>
              <a:t> </a:t>
            </a:r>
            <a:r>
              <a:rPr dirty="0" sz="3750" spc="-75">
                <a:latin typeface="Arial MT"/>
                <a:cs typeface="Arial MT"/>
              </a:rPr>
              <a:t>Approach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35133" y="6542969"/>
            <a:ext cx="1197610" cy="7118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76200">
              <a:lnSpc>
                <a:spcPts val="2715"/>
              </a:lnSpc>
              <a:spcBef>
                <a:spcPts val="130"/>
              </a:spcBef>
            </a:pPr>
            <a:r>
              <a:rPr dirty="0" sz="2400" spc="-80">
                <a:latin typeface="Consolas"/>
                <a:cs typeface="Consolas"/>
              </a:rPr>
              <a:t>CLUSTER</a:t>
            </a:r>
            <a:endParaRPr sz="2400">
              <a:latin typeface="Consolas"/>
              <a:cs typeface="Consolas"/>
            </a:endParaRPr>
          </a:p>
          <a:p>
            <a:pPr marL="12700">
              <a:lnSpc>
                <a:spcPts val="2655"/>
              </a:lnSpc>
            </a:pPr>
            <a:r>
              <a:rPr dirty="0" sz="2350" spc="-135">
                <a:latin typeface="Consolas"/>
                <a:cs typeface="Consolas"/>
              </a:rPr>
              <a:t>ARTIFACT</a:t>
            </a:r>
            <a:endParaRPr sz="2350">
              <a:latin typeface="Consolas"/>
              <a:cs typeface="Consola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149107" y="7876469"/>
            <a:ext cx="1344930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254">
                <a:latin typeface="Courier New"/>
                <a:cs typeface="Courier New"/>
              </a:rPr>
              <a:t>GnoupID</a:t>
            </a:r>
            <a:r>
              <a:rPr dirty="0" sz="2400" spc="-580">
                <a:latin typeface="Courier New"/>
                <a:cs typeface="Courier New"/>
              </a:rPr>
              <a:t> </a:t>
            </a:r>
            <a:r>
              <a:rPr dirty="0" sz="2400" spc="-145">
                <a:solidFill>
                  <a:srgbClr val="7E7E7E"/>
                </a:solidFill>
                <a:latin typeface="Courier New"/>
                <a:cs typeface="Courier New"/>
              </a:rPr>
              <a:t>”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510842" y="5975350"/>
            <a:ext cx="2672715" cy="1285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925"/>
              </a:lnSpc>
              <a:spcBef>
                <a:spcPts val="100"/>
              </a:spcBef>
            </a:pPr>
            <a:r>
              <a:rPr dirty="0" sz="2500" spc="-10">
                <a:latin typeface="Consolas"/>
                <a:cs typeface="Consolas"/>
              </a:rPr>
              <a:t>RunID</a:t>
            </a:r>
            <a:endParaRPr sz="2500">
              <a:latin typeface="Consolas"/>
              <a:cs typeface="Consolas"/>
            </a:endParaRPr>
          </a:p>
          <a:p>
            <a:pPr marL="21590" marR="5080" indent="13970">
              <a:lnSpc>
                <a:spcPts val="2300"/>
              </a:lnSpc>
              <a:spcBef>
                <a:spcPts val="135"/>
              </a:spcBef>
            </a:pPr>
            <a:r>
              <a:rPr dirty="0" sz="2050" spc="-35">
                <a:latin typeface="Arial MT"/>
                <a:cs typeface="Arial MT"/>
              </a:rPr>
              <a:t>(e.g.,</a:t>
            </a:r>
            <a:r>
              <a:rPr dirty="0" sz="2050" spc="-4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region-specific</a:t>
            </a:r>
            <a:r>
              <a:rPr dirty="0" sz="2050" spc="45">
                <a:latin typeface="Arial MT"/>
                <a:cs typeface="Arial MT"/>
              </a:rPr>
              <a:t> </a:t>
            </a:r>
            <a:r>
              <a:rPr dirty="0" sz="2050" spc="-25">
                <a:latin typeface="Arial MT"/>
                <a:cs typeface="Arial MT"/>
              </a:rPr>
              <a:t>or </a:t>
            </a:r>
            <a:r>
              <a:rPr dirty="0" sz="2050">
                <a:latin typeface="Arial MT"/>
                <a:cs typeface="Arial MT"/>
              </a:rPr>
              <a:t>segment-</a:t>
            </a:r>
            <a:r>
              <a:rPr dirty="0" sz="2050" spc="-10">
                <a:latin typeface="Arial MT"/>
                <a:cs typeface="Arial MT"/>
              </a:rPr>
              <a:t>specific models)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517907" y="7736769"/>
            <a:ext cx="110172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225">
                <a:latin typeface="Courier New"/>
                <a:cs typeface="Courier New"/>
              </a:rPr>
              <a:t>Grouplo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196371" y="2833511"/>
            <a:ext cx="673417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10">
                <a:latin typeface="Arial MT"/>
                <a:cs typeface="Arial MT"/>
              </a:rPr>
              <a:t>one</a:t>
            </a:r>
            <a:r>
              <a:rPr dirty="0" sz="2600" spc="-1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artifact.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 spc="-55">
                <a:latin typeface="Arial MT"/>
                <a:cs typeface="Arial MT"/>
              </a:rPr>
              <a:t>Versioning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1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linear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 spc="-45">
                <a:latin typeface="Arial MT"/>
                <a:cs typeface="Arial MT"/>
              </a:rPr>
              <a:t>(e.g.,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160">
                <a:latin typeface="Arial MT"/>
                <a:cs typeface="Arial MT"/>
              </a:rPr>
              <a:t>v1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175">
                <a:latin typeface="Arial MT"/>
                <a:cs typeface="Arial MT"/>
              </a:rPr>
              <a:t>-</a:t>
            </a:r>
            <a:r>
              <a:rPr dirty="0" sz="2600" spc="-290">
                <a:latin typeface="Arial MT"/>
                <a:cs typeface="Arial MT"/>
              </a:rPr>
              <a:t>+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v2).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9186553" y="5045427"/>
            <a:ext cx="6243320" cy="163195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600" spc="-10">
                <a:latin typeface="Arial MT"/>
                <a:cs typeface="Arial MT"/>
              </a:rPr>
              <a:t>‘Model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 spc="-60">
                <a:latin typeface="Arial MT"/>
                <a:cs typeface="Arial MT"/>
              </a:rPr>
              <a:t>Group’</a:t>
            </a:r>
            <a:r>
              <a:rPr dirty="0" sz="2600" spc="-1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Logic</a:t>
            </a:r>
            <a:endParaRPr sz="2600">
              <a:latin typeface="Arial MT"/>
              <a:cs typeface="Arial MT"/>
            </a:endParaRPr>
          </a:p>
          <a:p>
            <a:pPr marL="25400">
              <a:lnSpc>
                <a:spcPts val="2985"/>
              </a:lnSpc>
              <a:spcBef>
                <a:spcPts val="330"/>
              </a:spcBef>
            </a:pPr>
            <a:r>
              <a:rPr dirty="0" sz="2600" spc="-50">
                <a:latin typeface="Arial MT"/>
                <a:cs typeface="Arial MT"/>
              </a:rPr>
              <a:t>The</a:t>
            </a:r>
            <a:r>
              <a:rPr dirty="0" sz="2600" spc="-135">
                <a:latin typeface="Arial MT"/>
                <a:cs typeface="Arial MT"/>
              </a:rPr>
              <a:t> </a:t>
            </a:r>
            <a:r>
              <a:rPr dirty="0" sz="2600" spc="-30">
                <a:latin typeface="Arial MT"/>
                <a:cs typeface="Arial MT"/>
              </a:rPr>
              <a:t>Registry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tracks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”GroupID*.</a:t>
            </a:r>
            <a:endParaRPr sz="2600">
              <a:latin typeface="Arial MT"/>
              <a:cs typeface="Arial MT"/>
            </a:endParaRPr>
          </a:p>
          <a:p>
            <a:pPr marL="22860" marR="5080" indent="-1905">
              <a:lnSpc>
                <a:spcPts val="2900"/>
              </a:lnSpc>
              <a:spcBef>
                <a:spcPts val="145"/>
              </a:spcBef>
              <a:tabLst>
                <a:tab pos="5125085" algn="l"/>
              </a:tabLst>
            </a:pPr>
            <a:r>
              <a:rPr dirty="0" sz="2600">
                <a:latin typeface="Arial MT"/>
                <a:cs typeface="Arial MT"/>
              </a:rPr>
              <a:t>All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45">
                <a:latin typeface="Arial MT"/>
                <a:cs typeface="Arial MT"/>
              </a:rPr>
              <a:t>sub-</a:t>
            </a:r>
            <a:r>
              <a:rPr dirty="0" sz="2600">
                <a:latin typeface="Arial MT"/>
                <a:cs typeface="Arial MT"/>
              </a:rPr>
              <a:t>models</a:t>
            </a:r>
            <a:r>
              <a:rPr dirty="0" sz="2600" spc="220">
                <a:latin typeface="Arial MT"/>
                <a:cs typeface="Arial MT"/>
              </a:rPr>
              <a:t> </a:t>
            </a:r>
            <a:r>
              <a:rPr dirty="0" sz="2600" spc="-70">
                <a:latin typeface="Arial MT"/>
                <a:cs typeface="Arial MT"/>
              </a:rPr>
              <a:t>(e.g.,</a:t>
            </a:r>
            <a:r>
              <a:rPr dirty="0" sz="2600" spc="-114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region-specific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or </a:t>
            </a:r>
            <a:r>
              <a:rPr dirty="0" sz="2600">
                <a:latin typeface="Arial MT"/>
                <a:cs typeface="Arial MT"/>
              </a:rPr>
              <a:t>segment-specific</a:t>
            </a:r>
            <a:r>
              <a:rPr dirty="0" sz="2600" spc="-175">
                <a:latin typeface="Arial MT"/>
                <a:cs typeface="Arial MT"/>
              </a:rPr>
              <a:t> </a:t>
            </a:r>
            <a:r>
              <a:rPr dirty="0" sz="2600" spc="-35">
                <a:latin typeface="Arial MT"/>
                <a:cs typeface="Arial MT"/>
              </a:rPr>
              <a:t>models)</a:t>
            </a:r>
            <a:r>
              <a:rPr dirty="0" sz="2600" spc="105">
                <a:latin typeface="Arial MT"/>
                <a:cs typeface="Arial MT"/>
              </a:rPr>
              <a:t> </a:t>
            </a:r>
            <a:r>
              <a:rPr dirty="0" sz="2600" spc="-30">
                <a:latin typeface="Arial MT"/>
                <a:cs typeface="Arial MT"/>
              </a:rPr>
              <a:t>share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50"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	</a:t>
            </a:r>
            <a:r>
              <a:rPr dirty="0" sz="2600" spc="-10">
                <a:latin typeface="Arial MT"/>
                <a:cs typeface="Arial MT"/>
              </a:rPr>
              <a:t>RunID'.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019116" y="6893983"/>
            <a:ext cx="7683500" cy="1346200"/>
          </a:xfrm>
          <a:prstGeom prst="rect">
            <a:avLst/>
          </a:prstGeom>
          <a:ln w="12700">
            <a:solidFill>
              <a:srgbClr val="93705B"/>
            </a:solidFill>
          </a:ln>
        </p:spPr>
        <p:txBody>
          <a:bodyPr wrap="square" lIns="0" tIns="94615" rIns="0" bIns="0" rtlCol="0" vert="horz">
            <a:spAutoFit/>
          </a:bodyPr>
          <a:lstStyle/>
          <a:p>
            <a:pPr marL="186055" marR="257810" indent="-2540">
              <a:lnSpc>
                <a:spcPts val="2900"/>
              </a:lnSpc>
              <a:spcBef>
                <a:spcPts val="745"/>
              </a:spcBef>
            </a:pPr>
            <a:r>
              <a:rPr dirty="0" sz="2900" spc="-240">
                <a:latin typeface="Arial MT"/>
                <a:cs typeface="Arial MT"/>
              </a:rPr>
              <a:t>Rule:</a:t>
            </a:r>
            <a:r>
              <a:rPr dirty="0" sz="2900" spc="10">
                <a:latin typeface="Arial MT"/>
                <a:cs typeface="Arial MT"/>
              </a:rPr>
              <a:t> </a:t>
            </a:r>
            <a:r>
              <a:rPr dirty="0" sz="2900" spc="-254">
                <a:latin typeface="Arial MT"/>
                <a:cs typeface="Arial MT"/>
              </a:rPr>
              <a:t>The</a:t>
            </a:r>
            <a:r>
              <a:rPr dirty="0" sz="2900" spc="-155">
                <a:latin typeface="Arial MT"/>
                <a:cs typeface="Arial MT"/>
              </a:rPr>
              <a:t> </a:t>
            </a:r>
            <a:r>
              <a:rPr dirty="0" sz="2900" spc="-185">
                <a:latin typeface="Arial MT"/>
                <a:cs typeface="Arial MT"/>
              </a:rPr>
              <a:t>Cluster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145">
                <a:latin typeface="Arial MT"/>
                <a:cs typeface="Arial MT"/>
              </a:rPr>
              <a:t>is</a:t>
            </a:r>
            <a:r>
              <a:rPr dirty="0" sz="2900" spc="-85">
                <a:latin typeface="Arial MT"/>
                <a:cs typeface="Arial MT"/>
              </a:rPr>
              <a:t> </a:t>
            </a:r>
            <a:r>
              <a:rPr dirty="0" sz="2900" spc="-185">
                <a:latin typeface="Arial MT"/>
                <a:cs typeface="Arial MT"/>
              </a:rPr>
              <a:t>versioned</a:t>
            </a:r>
            <a:r>
              <a:rPr dirty="0" sz="2900" spc="45">
                <a:latin typeface="Arial MT"/>
                <a:cs typeface="Arial MT"/>
              </a:rPr>
              <a:t> </a:t>
            </a:r>
            <a:r>
              <a:rPr dirty="0" sz="2900" spc="-280">
                <a:latin typeface="Arial MT"/>
                <a:cs typeface="Arial MT"/>
              </a:rPr>
              <a:t>as</a:t>
            </a:r>
            <a:r>
              <a:rPr dirty="0" sz="2900" spc="-135">
                <a:latin typeface="Arial MT"/>
                <a:cs typeface="Arial MT"/>
              </a:rPr>
              <a:t> </a:t>
            </a:r>
            <a:r>
              <a:rPr dirty="0" sz="2900" spc="-260">
                <a:latin typeface="Arial MT"/>
                <a:cs typeface="Arial MT"/>
              </a:rPr>
              <a:t>a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195">
                <a:latin typeface="Arial MT"/>
                <a:cs typeface="Arial MT"/>
              </a:rPr>
              <a:t>single</a:t>
            </a:r>
            <a:r>
              <a:rPr dirty="0" sz="2900" spc="60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atomic </a:t>
            </a:r>
            <a:r>
              <a:rPr dirty="0" sz="2900" spc="-130">
                <a:latin typeface="Arial MT"/>
                <a:cs typeface="Arial MT"/>
              </a:rPr>
              <a:t>unit.</a:t>
            </a:r>
            <a:r>
              <a:rPr dirty="0" sz="2900" spc="-190">
                <a:latin typeface="Arial MT"/>
                <a:cs typeface="Arial MT"/>
              </a:rPr>
              <a:t> </a:t>
            </a:r>
            <a:r>
              <a:rPr dirty="0" sz="2900" spc="-45">
                <a:latin typeface="Arial MT"/>
                <a:cs typeface="Arial MT"/>
              </a:rPr>
              <a:t>If</a:t>
            </a:r>
            <a:r>
              <a:rPr dirty="0" sz="2900" spc="-95">
                <a:latin typeface="Arial MT"/>
                <a:cs typeface="Arial MT"/>
              </a:rPr>
              <a:t> </a:t>
            </a:r>
            <a:r>
              <a:rPr dirty="0" sz="2900" spc="-235">
                <a:latin typeface="Arial MT"/>
                <a:cs typeface="Arial MT"/>
              </a:rPr>
              <a:t>one</a:t>
            </a:r>
            <a:r>
              <a:rPr dirty="0" sz="2900" spc="-85">
                <a:latin typeface="Arial MT"/>
                <a:cs typeface="Arial MT"/>
              </a:rPr>
              <a:t> </a:t>
            </a:r>
            <a:r>
              <a:rPr dirty="0" sz="2900" spc="-180">
                <a:latin typeface="Arial MT"/>
                <a:cs typeface="Arial MT"/>
              </a:rPr>
              <a:t>sub-</a:t>
            </a:r>
            <a:r>
              <a:rPr dirty="0" sz="2900" spc="-175">
                <a:latin typeface="Arial MT"/>
                <a:cs typeface="Arial MT"/>
              </a:rPr>
              <a:t>model</a:t>
            </a:r>
            <a:r>
              <a:rPr dirty="0" sz="2900" spc="65">
                <a:latin typeface="Arial MT"/>
                <a:cs typeface="Arial MT"/>
              </a:rPr>
              <a:t> </a:t>
            </a:r>
            <a:r>
              <a:rPr dirty="0" sz="2900" spc="-140">
                <a:latin typeface="Arial MT"/>
                <a:cs typeface="Arial MT"/>
              </a:rPr>
              <a:t>fails</a:t>
            </a:r>
            <a:r>
              <a:rPr dirty="0" sz="2900" spc="-145">
                <a:latin typeface="Arial MT"/>
                <a:cs typeface="Arial MT"/>
              </a:rPr>
              <a:t> training,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20">
                <a:latin typeface="Arial MT"/>
                <a:cs typeface="Arial MT"/>
              </a:rPr>
              <a:t>the</a:t>
            </a:r>
            <a:r>
              <a:rPr dirty="0" sz="2900" spc="-65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whole </a:t>
            </a:r>
            <a:r>
              <a:rPr dirty="0" sz="2900" spc="-140">
                <a:latin typeface="Arial MT"/>
                <a:cs typeface="Arial MT"/>
              </a:rPr>
              <a:t>cluster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200">
                <a:latin typeface="Arial MT"/>
                <a:cs typeface="Arial MT"/>
              </a:rPr>
              <a:t>version</a:t>
            </a:r>
            <a:r>
              <a:rPr dirty="0" sz="2900" spc="-50">
                <a:latin typeface="Arial MT"/>
                <a:cs typeface="Arial MT"/>
              </a:rPr>
              <a:t> </a:t>
            </a:r>
            <a:r>
              <a:rPr dirty="0" sz="2900" spc="-145">
                <a:latin typeface="Arial MT"/>
                <a:cs typeface="Arial MT"/>
              </a:rPr>
              <a:t>is</a:t>
            </a:r>
            <a:r>
              <a:rPr dirty="0" sz="2900" spc="-135">
                <a:latin typeface="Arial MT"/>
                <a:cs typeface="Arial MT"/>
              </a:rPr>
              <a:t> </a:t>
            </a:r>
            <a:r>
              <a:rPr dirty="0" sz="2900" spc="-145">
                <a:latin typeface="Arial MT"/>
                <a:cs typeface="Arial MT"/>
              </a:rPr>
              <a:t>rejected</a:t>
            </a:r>
            <a:r>
              <a:rPr dirty="0" sz="2900" spc="60">
                <a:latin typeface="Arial MT"/>
                <a:cs typeface="Arial MT"/>
              </a:rPr>
              <a:t> </a:t>
            </a:r>
            <a:r>
              <a:rPr dirty="0" sz="2900" spc="-130">
                <a:latin typeface="Arial MT"/>
                <a:cs typeface="Arial MT"/>
              </a:rPr>
              <a:t>to</a:t>
            </a:r>
            <a:r>
              <a:rPr dirty="0" sz="2900" spc="-140">
                <a:latin typeface="Arial MT"/>
                <a:cs typeface="Arial MT"/>
              </a:rPr>
              <a:t> </a:t>
            </a:r>
            <a:r>
              <a:rPr dirty="0" sz="2900" spc="-190">
                <a:latin typeface="Arial MT"/>
                <a:cs typeface="Arial MT"/>
              </a:rPr>
              <a:t>maintain</a:t>
            </a:r>
            <a:r>
              <a:rPr dirty="0" sz="2900" spc="50">
                <a:latin typeface="Arial MT"/>
                <a:cs typeface="Arial MT"/>
              </a:rPr>
              <a:t> </a:t>
            </a:r>
            <a:r>
              <a:rPr dirty="0" sz="2900" spc="-145">
                <a:latin typeface="Arial MT"/>
                <a:cs typeface="Arial MT"/>
              </a:rPr>
              <a:t>consistency.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052365" y="8785930"/>
            <a:ext cx="13336269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>
                <a:latin typeface="Arial MT"/>
                <a:cs typeface="Arial MT"/>
              </a:rPr>
              <a:t>Inference</a:t>
            </a:r>
            <a:r>
              <a:rPr dirty="0" sz="2550" spc="10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services</a:t>
            </a:r>
            <a:r>
              <a:rPr dirty="0" sz="2550" spc="-85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consume</a:t>
            </a:r>
            <a:r>
              <a:rPr dirty="0" sz="2550" spc="-10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‘Artifact,</a:t>
            </a:r>
            <a:r>
              <a:rPr dirty="0" sz="2550" spc="-4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Artifacts’.</a:t>
            </a:r>
            <a:r>
              <a:rPr dirty="0" sz="2550" spc="-4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This</a:t>
            </a:r>
            <a:r>
              <a:rPr dirty="0" sz="2550" spc="-25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guarantees</a:t>
            </a:r>
            <a:r>
              <a:rPr dirty="0" sz="2550" spc="114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’zero</a:t>
            </a:r>
            <a:r>
              <a:rPr dirty="0" sz="2550" spc="-95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latency</a:t>
            </a:r>
            <a:r>
              <a:rPr dirty="0" sz="2550" spc="-25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during</a:t>
            </a:r>
            <a:r>
              <a:rPr dirty="0" sz="2550" spc="-120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training.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9448800"/>
            <a:ext cx="15684500" cy="3048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900" y="2540000"/>
            <a:ext cx="11391900" cy="4876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22200" y="1625600"/>
            <a:ext cx="660400" cy="62738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36700" y="3975100"/>
            <a:ext cx="1803400" cy="15875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132300" y="1498600"/>
            <a:ext cx="215900" cy="13462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132300" y="8026400"/>
            <a:ext cx="215900" cy="7620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129000" y="9499600"/>
            <a:ext cx="1206500" cy="1270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9700" y="1765300"/>
            <a:ext cx="127000" cy="3048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7000" y="8229600"/>
            <a:ext cx="215900" cy="7620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132300" y="8813800"/>
            <a:ext cx="215900" cy="3683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31149" y="400755"/>
            <a:ext cx="11194415" cy="7029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450" spc="-130">
                <a:solidFill>
                  <a:srgbClr val="000000"/>
                </a:solidFill>
              </a:rPr>
              <a:t>Phase</a:t>
            </a:r>
            <a:r>
              <a:rPr dirty="0" sz="4450" spc="-180">
                <a:solidFill>
                  <a:srgbClr val="000000"/>
                </a:solidFill>
              </a:rPr>
              <a:t> </a:t>
            </a:r>
            <a:r>
              <a:rPr dirty="0" sz="4450">
                <a:solidFill>
                  <a:srgbClr val="000000"/>
                </a:solidFill>
              </a:rPr>
              <a:t>1:</a:t>
            </a:r>
            <a:r>
              <a:rPr dirty="0" sz="4450" spc="-310">
                <a:solidFill>
                  <a:srgbClr val="000000"/>
                </a:solidFill>
              </a:rPr>
              <a:t> </a:t>
            </a:r>
            <a:r>
              <a:rPr dirty="0" sz="4450">
                <a:solidFill>
                  <a:srgbClr val="000000"/>
                </a:solidFill>
              </a:rPr>
              <a:t>Asynchronous</a:t>
            </a:r>
            <a:r>
              <a:rPr dirty="0" sz="4450" spc="-65">
                <a:solidFill>
                  <a:srgbClr val="000000"/>
                </a:solidFill>
              </a:rPr>
              <a:t> </a:t>
            </a:r>
            <a:r>
              <a:rPr dirty="0" sz="4450">
                <a:solidFill>
                  <a:srgbClr val="000000"/>
                </a:solidFill>
              </a:rPr>
              <a:t>Training</a:t>
            </a:r>
            <a:r>
              <a:rPr dirty="0" sz="4450" spc="-175">
                <a:solidFill>
                  <a:srgbClr val="000000"/>
                </a:solidFill>
              </a:rPr>
              <a:t> </a:t>
            </a:r>
            <a:r>
              <a:rPr dirty="0" sz="4450" spc="-245">
                <a:solidFill>
                  <a:srgbClr val="000000"/>
                </a:solidFill>
              </a:rPr>
              <a:t>&amp;</a:t>
            </a:r>
            <a:r>
              <a:rPr dirty="0" sz="4450" spc="-95">
                <a:solidFill>
                  <a:srgbClr val="000000"/>
                </a:solidFill>
              </a:rPr>
              <a:t> </a:t>
            </a:r>
            <a:r>
              <a:rPr dirty="0" sz="4450" spc="-10">
                <a:solidFill>
                  <a:srgbClr val="000000"/>
                </a:solidFill>
              </a:rPr>
              <a:t>Validation</a:t>
            </a:r>
            <a:endParaRPr sz="4450"/>
          </a:p>
        </p:txBody>
      </p:sp>
      <p:sp>
        <p:nvSpPr>
          <p:cNvPr id="13" name="object 13" descr=""/>
          <p:cNvSpPr txBox="1"/>
          <p:nvPr/>
        </p:nvSpPr>
        <p:spPr>
          <a:xfrm>
            <a:off x="3038078" y="1881716"/>
            <a:ext cx="6849109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130">
                <a:latin typeface="Arial MT"/>
                <a:cs typeface="Arial MT"/>
              </a:rPr>
              <a:t>TRAINING</a:t>
            </a:r>
            <a:r>
              <a:rPr dirty="0" sz="3300" spc="200">
                <a:latin typeface="Arial MT"/>
                <a:cs typeface="Arial MT"/>
              </a:rPr>
              <a:t> </a:t>
            </a:r>
            <a:r>
              <a:rPr dirty="0" sz="3300" spc="-260">
                <a:latin typeface="Arial MT"/>
                <a:cs typeface="Arial MT"/>
              </a:rPr>
              <a:t>ZONE</a:t>
            </a:r>
            <a:r>
              <a:rPr dirty="0" sz="3300" spc="30">
                <a:latin typeface="Arial MT"/>
                <a:cs typeface="Arial MT"/>
              </a:rPr>
              <a:t> </a:t>
            </a:r>
            <a:r>
              <a:rPr dirty="0" sz="3300" spc="-120">
                <a:latin typeface="Arial MT"/>
                <a:cs typeface="Arial MT"/>
              </a:rPr>
              <a:t>(ASYNCHRONOUS)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834264" y="3240969"/>
            <a:ext cx="131889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105">
                <a:latin typeface="Arial MT"/>
                <a:cs typeface="Arial MT"/>
              </a:rPr>
              <a:t>TRIGGER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50625" y="6078008"/>
            <a:ext cx="1717675" cy="101346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algn="ctr" marL="12700" marR="5080">
              <a:lnSpc>
                <a:spcPts val="2500"/>
              </a:lnSpc>
              <a:spcBef>
                <a:spcPts val="390"/>
              </a:spcBef>
            </a:pPr>
            <a:r>
              <a:rPr dirty="0" sz="2300" spc="-30">
                <a:latin typeface="Arial MT"/>
                <a:cs typeface="Arial MT"/>
              </a:rPr>
              <a:t>Scheduled</a:t>
            </a:r>
            <a:r>
              <a:rPr dirty="0" sz="2300" spc="-25">
                <a:latin typeface="Arial MT"/>
                <a:cs typeface="Arial MT"/>
              </a:rPr>
              <a:t> or </a:t>
            </a:r>
            <a:r>
              <a:rPr dirty="0" sz="2400" spc="-80">
                <a:latin typeface="Arial MT"/>
                <a:cs typeface="Arial MT"/>
              </a:rPr>
              <a:t>Event-</a:t>
            </a:r>
            <a:r>
              <a:rPr dirty="0" sz="2400" spc="-10">
                <a:latin typeface="Arial MT"/>
                <a:cs typeface="Arial MT"/>
              </a:rPr>
              <a:t>based initiation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524783" y="3232150"/>
            <a:ext cx="176657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95">
                <a:latin typeface="Arial MT"/>
                <a:cs typeface="Arial MT"/>
              </a:rPr>
              <a:t>EXECUTION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368984" y="6057900"/>
            <a:ext cx="2065020" cy="103505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algn="ctr" marL="12700" marR="5080">
              <a:lnSpc>
                <a:spcPct val="84200"/>
              </a:lnSpc>
              <a:spcBef>
                <a:spcPts val="575"/>
              </a:spcBef>
            </a:pPr>
            <a:r>
              <a:rPr dirty="0" sz="2500" spc="-130">
                <a:latin typeface="Arial MT"/>
                <a:cs typeface="Arial MT"/>
              </a:rPr>
              <a:t>Compute-</a:t>
            </a:r>
            <a:r>
              <a:rPr dirty="0" sz="2500" spc="-135">
                <a:latin typeface="Arial MT"/>
                <a:cs typeface="Arial MT"/>
              </a:rPr>
              <a:t>heavy </a:t>
            </a:r>
            <a:r>
              <a:rPr dirty="0" sz="2400" spc="-10">
                <a:latin typeface="Arial MT"/>
                <a:cs typeface="Arial MT"/>
              </a:rPr>
              <a:t>process </a:t>
            </a:r>
            <a:r>
              <a:rPr dirty="0" sz="2500" spc="-75">
                <a:latin typeface="Arial MT"/>
                <a:cs typeface="Arial MT"/>
              </a:rPr>
              <a:t>(Hours/Days)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434512" y="3022952"/>
            <a:ext cx="1788160" cy="81534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 marR="5080" indent="393700">
              <a:lnSpc>
                <a:spcPts val="2800"/>
              </a:lnSpc>
              <a:spcBef>
                <a:spcPts val="705"/>
              </a:spcBef>
            </a:pPr>
            <a:r>
              <a:rPr dirty="0" sz="2850" spc="-355">
                <a:latin typeface="Arial MT"/>
                <a:cs typeface="Arial MT"/>
              </a:rPr>
              <a:t>LOCAL </a:t>
            </a:r>
            <a:r>
              <a:rPr dirty="0" sz="2850" spc="-340">
                <a:latin typeface="Arial MT"/>
                <a:cs typeface="Arial MT"/>
              </a:rPr>
              <a:t>VALIDATION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220653" y="6060369"/>
            <a:ext cx="2254885" cy="1033144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algn="ctr" marL="12700" marR="5080">
              <a:lnSpc>
                <a:spcPts val="2500"/>
              </a:lnSpc>
              <a:spcBef>
                <a:spcPts val="530"/>
              </a:spcBef>
            </a:pPr>
            <a:r>
              <a:rPr dirty="0" sz="2400" spc="-60">
                <a:latin typeface="Arial MT"/>
                <a:cs typeface="Arial MT"/>
              </a:rPr>
              <a:t>Accuracy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40">
                <a:latin typeface="Arial MT"/>
                <a:cs typeface="Arial MT"/>
              </a:rPr>
              <a:t>metrics </a:t>
            </a:r>
            <a:r>
              <a:rPr dirty="0" sz="2300">
                <a:latin typeface="Arial MT"/>
                <a:cs typeface="Arial MT"/>
              </a:rPr>
              <a:t>check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against </a:t>
            </a:r>
            <a:r>
              <a:rPr dirty="0" sz="2500" spc="-10">
                <a:latin typeface="Arial MT"/>
                <a:cs typeface="Arial MT"/>
              </a:rPr>
              <a:t>baseline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670508" y="1881716"/>
            <a:ext cx="2909570" cy="1460500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algn="just" marL="12700" marR="5080" indent="139700">
              <a:lnSpc>
                <a:spcPct val="92900"/>
              </a:lnSpc>
              <a:spcBef>
                <a:spcPts val="414"/>
              </a:spcBef>
            </a:pPr>
            <a:r>
              <a:rPr dirty="0" sz="3300" spc="-70">
                <a:solidFill>
                  <a:srgbClr val="626262"/>
                </a:solidFill>
                <a:latin typeface="Arial MT"/>
                <a:cs typeface="Arial MT"/>
              </a:rPr>
              <a:t>PRODUCTION </a:t>
            </a:r>
            <a:r>
              <a:rPr dirty="0" sz="3250" spc="-130">
                <a:solidFill>
                  <a:srgbClr val="666666"/>
                </a:solidFill>
                <a:latin typeface="Arial MT"/>
                <a:cs typeface="Arial MT"/>
              </a:rPr>
              <a:t>ENVIRONMENT </a:t>
            </a:r>
            <a:r>
              <a:rPr dirty="0" sz="3300" spc="-150">
                <a:solidFill>
                  <a:srgbClr val="666666"/>
                </a:solidFill>
                <a:latin typeface="Arial MT"/>
                <a:cs typeface="Arial MT"/>
              </a:rPr>
              <a:t>(UNAFFECTED)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702524" y="5883980"/>
            <a:ext cx="2858135" cy="119316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ctr" marL="62230" marR="68580" indent="-12065">
              <a:lnSpc>
                <a:spcPts val="2800"/>
              </a:lnSpc>
              <a:spcBef>
                <a:spcPts val="430"/>
              </a:spcBef>
            </a:pPr>
            <a:r>
              <a:rPr dirty="0" sz="2550" spc="-40">
                <a:latin typeface="Arial MT"/>
                <a:cs typeface="Arial MT"/>
              </a:rPr>
              <a:t>PRODUCTION </a:t>
            </a:r>
            <a:r>
              <a:rPr dirty="0" sz="2550" spc="-175">
                <a:latin typeface="Arial MT"/>
                <a:cs typeface="Arial MT"/>
              </a:rPr>
              <a:t>SCORING</a:t>
            </a:r>
            <a:r>
              <a:rPr dirty="0" sz="2550" spc="15">
                <a:latin typeface="Arial MT"/>
                <a:cs typeface="Arial MT"/>
              </a:rPr>
              <a:t> </a:t>
            </a:r>
            <a:r>
              <a:rPr dirty="0" sz="2550" spc="-180">
                <a:latin typeface="Arial MT"/>
                <a:cs typeface="Arial MT"/>
              </a:rPr>
              <a:t>SERVICE</a:t>
            </a:r>
            <a:endParaRPr sz="25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39"/>
              </a:spcBef>
            </a:pPr>
            <a:r>
              <a:rPr dirty="0" sz="2350" spc="-40">
                <a:latin typeface="Arial MT"/>
                <a:cs typeface="Arial MT"/>
              </a:rPr>
              <a:t>Serving</a:t>
            </a:r>
            <a:r>
              <a:rPr dirty="0" sz="2350" spc="-55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stable</a:t>
            </a:r>
            <a:r>
              <a:rPr dirty="0" sz="2350" spc="-140"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version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830917" y="8240183"/>
            <a:ext cx="13754100" cy="965200"/>
          </a:xfrm>
          <a:prstGeom prst="rect">
            <a:avLst/>
          </a:prstGeom>
          <a:ln w="12700">
            <a:solidFill>
              <a:srgbClr val="976754"/>
            </a:solidFill>
          </a:ln>
        </p:spPr>
        <p:txBody>
          <a:bodyPr wrap="square" lIns="0" tIns="104775" rIns="0" bIns="0" rtlCol="0" vert="horz">
            <a:spAutoFit/>
          </a:bodyPr>
          <a:lstStyle/>
          <a:p>
            <a:pPr marL="172720" marR="151130" indent="822325">
              <a:lnSpc>
                <a:spcPts val="2800"/>
              </a:lnSpc>
              <a:spcBef>
                <a:spcPts val="825"/>
              </a:spcBef>
            </a:pPr>
            <a:r>
              <a:rPr dirty="0" sz="2850" spc="-300">
                <a:latin typeface="Arial MT"/>
                <a:cs typeface="Arial MT"/>
              </a:rPr>
              <a:t>CRITICAL</a:t>
            </a:r>
            <a:r>
              <a:rPr dirty="0" sz="2850" spc="65">
                <a:latin typeface="Arial MT"/>
                <a:cs typeface="Arial MT"/>
              </a:rPr>
              <a:t> </a:t>
            </a:r>
            <a:r>
              <a:rPr dirty="0" sz="2850" spc="-320">
                <a:latin typeface="Arial MT"/>
                <a:cs typeface="Arial MT"/>
              </a:rPr>
              <a:t>NOTE:</a:t>
            </a:r>
            <a:r>
              <a:rPr dirty="0" sz="2850" spc="30">
                <a:latin typeface="Arial MT"/>
                <a:cs typeface="Arial MT"/>
              </a:rPr>
              <a:t> </a:t>
            </a:r>
            <a:r>
              <a:rPr dirty="0" sz="2850" spc="-210">
                <a:latin typeface="Arial MT"/>
                <a:cs typeface="Arial MT"/>
              </a:rPr>
              <a:t>This</a:t>
            </a:r>
            <a:r>
              <a:rPr dirty="0" sz="2850" spc="-40">
                <a:latin typeface="Arial MT"/>
                <a:cs typeface="Arial MT"/>
              </a:rPr>
              <a:t> </a:t>
            </a:r>
            <a:r>
              <a:rPr dirty="0" sz="2850" spc="-229">
                <a:latin typeface="Arial MT"/>
                <a:cs typeface="Arial MT"/>
              </a:rPr>
              <a:t>phase</a:t>
            </a:r>
            <a:r>
              <a:rPr dirty="0" sz="2850" spc="-45">
                <a:latin typeface="Arial MT"/>
                <a:cs typeface="Arial MT"/>
              </a:rPr>
              <a:t> </a:t>
            </a:r>
            <a:r>
              <a:rPr dirty="0" sz="2850" spc="-70">
                <a:latin typeface="Arial MT"/>
                <a:cs typeface="Arial MT"/>
              </a:rPr>
              <a:t>is</a:t>
            </a:r>
            <a:r>
              <a:rPr dirty="0" sz="2850" spc="-145">
                <a:latin typeface="Arial MT"/>
                <a:cs typeface="Arial MT"/>
              </a:rPr>
              <a:t> </a:t>
            </a:r>
            <a:r>
              <a:rPr dirty="0" sz="2850" spc="-65">
                <a:latin typeface="Arial MT"/>
                <a:cs typeface="Arial MT"/>
              </a:rPr>
              <a:t>strictly</a:t>
            </a:r>
            <a:r>
              <a:rPr dirty="0" sz="2850" spc="-135">
                <a:latin typeface="Arial MT"/>
                <a:cs typeface="Arial MT"/>
              </a:rPr>
              <a:t> </a:t>
            </a:r>
            <a:r>
              <a:rPr dirty="0" sz="2850" spc="-140">
                <a:latin typeface="Arial MT"/>
                <a:cs typeface="Arial MT"/>
              </a:rPr>
              <a:t>isolated.</a:t>
            </a:r>
            <a:r>
              <a:rPr dirty="0" sz="2850" spc="-55">
                <a:latin typeface="Arial MT"/>
                <a:cs typeface="Arial MT"/>
              </a:rPr>
              <a:t> </a:t>
            </a:r>
            <a:r>
              <a:rPr dirty="0" sz="2850" spc="-280">
                <a:latin typeface="Arial MT"/>
                <a:cs typeface="Arial MT"/>
              </a:rPr>
              <a:t>Even</a:t>
            </a:r>
            <a:r>
              <a:rPr dirty="0" sz="2850" spc="-114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if</a:t>
            </a:r>
            <a:r>
              <a:rPr dirty="0" sz="2850" spc="-55">
                <a:latin typeface="Arial MT"/>
                <a:cs typeface="Arial MT"/>
              </a:rPr>
              <a:t> </a:t>
            </a:r>
            <a:r>
              <a:rPr dirty="0" sz="2850" spc="-114">
                <a:latin typeface="Arial MT"/>
                <a:cs typeface="Arial MT"/>
              </a:rPr>
              <a:t>training</a:t>
            </a:r>
            <a:r>
              <a:rPr dirty="0" sz="2850" spc="80">
                <a:latin typeface="Arial MT"/>
                <a:cs typeface="Arial MT"/>
              </a:rPr>
              <a:t> </a:t>
            </a:r>
            <a:r>
              <a:rPr dirty="0" sz="2850" spc="-165">
                <a:latin typeface="Arial MT"/>
                <a:cs typeface="Arial MT"/>
              </a:rPr>
              <a:t>takes</a:t>
            </a:r>
            <a:r>
              <a:rPr dirty="0" sz="2850">
                <a:latin typeface="Arial MT"/>
                <a:cs typeface="Arial MT"/>
              </a:rPr>
              <a:t> </a:t>
            </a:r>
            <a:r>
              <a:rPr dirty="0" sz="2850" spc="-170">
                <a:latin typeface="Arial MT"/>
                <a:cs typeface="Arial MT"/>
              </a:rPr>
              <a:t>48</a:t>
            </a:r>
            <a:r>
              <a:rPr dirty="0" sz="2850" spc="-125">
                <a:latin typeface="Arial MT"/>
                <a:cs typeface="Arial MT"/>
              </a:rPr>
              <a:t> </a:t>
            </a:r>
            <a:r>
              <a:rPr dirty="0" sz="2850" spc="-155">
                <a:latin typeface="Arial MT"/>
                <a:cs typeface="Arial MT"/>
              </a:rPr>
              <a:t>hours,</a:t>
            </a:r>
            <a:r>
              <a:rPr dirty="0" sz="2850" spc="-15">
                <a:latin typeface="Arial MT"/>
                <a:cs typeface="Arial MT"/>
              </a:rPr>
              <a:t> </a:t>
            </a:r>
            <a:r>
              <a:rPr dirty="0" sz="2850" spc="-25">
                <a:latin typeface="Arial MT"/>
                <a:cs typeface="Arial MT"/>
              </a:rPr>
              <a:t>the </a:t>
            </a:r>
            <a:r>
              <a:rPr dirty="0" sz="2850" spc="-150">
                <a:latin typeface="Arial MT"/>
                <a:cs typeface="Arial MT"/>
              </a:rPr>
              <a:t>Production</a:t>
            </a:r>
            <a:r>
              <a:rPr dirty="0" sz="2850" spc="-45">
                <a:latin typeface="Arial MT"/>
                <a:cs typeface="Arial MT"/>
              </a:rPr>
              <a:t> </a:t>
            </a:r>
            <a:r>
              <a:rPr dirty="0" sz="2850" spc="-175">
                <a:latin typeface="Arial MT"/>
                <a:cs typeface="Arial MT"/>
              </a:rPr>
              <a:t>Scoring</a:t>
            </a:r>
            <a:r>
              <a:rPr dirty="0" sz="2850" spc="45">
                <a:latin typeface="Arial MT"/>
                <a:cs typeface="Arial MT"/>
              </a:rPr>
              <a:t> </a:t>
            </a:r>
            <a:r>
              <a:rPr dirty="0" sz="2850" spc="-165">
                <a:latin typeface="Arial MT"/>
                <a:cs typeface="Arial MT"/>
              </a:rPr>
              <a:t>service</a:t>
            </a:r>
            <a:r>
              <a:rPr dirty="0" sz="2850" spc="-30">
                <a:latin typeface="Arial MT"/>
                <a:cs typeface="Arial MT"/>
              </a:rPr>
              <a:t> </a:t>
            </a:r>
            <a:r>
              <a:rPr dirty="0" sz="2850" spc="-155">
                <a:latin typeface="Arial MT"/>
                <a:cs typeface="Arial MT"/>
              </a:rPr>
              <a:t>continues</a:t>
            </a:r>
            <a:r>
              <a:rPr dirty="0" sz="2850" spc="-5">
                <a:latin typeface="Arial MT"/>
                <a:cs typeface="Arial MT"/>
              </a:rPr>
              <a:t> </a:t>
            </a:r>
            <a:r>
              <a:rPr dirty="0" sz="2850" spc="-165">
                <a:latin typeface="Arial MT"/>
                <a:cs typeface="Arial MT"/>
              </a:rPr>
              <a:t>serving</a:t>
            </a:r>
            <a:r>
              <a:rPr dirty="0" sz="2850" spc="-30">
                <a:latin typeface="Arial MT"/>
                <a:cs typeface="Arial MT"/>
              </a:rPr>
              <a:t> </a:t>
            </a:r>
            <a:r>
              <a:rPr dirty="0" sz="2850" spc="-114">
                <a:latin typeface="Arial MT"/>
                <a:cs typeface="Arial MT"/>
              </a:rPr>
              <a:t>the</a:t>
            </a:r>
            <a:r>
              <a:rPr dirty="0" sz="2850" spc="-215">
                <a:latin typeface="Arial MT"/>
                <a:cs typeface="Arial MT"/>
              </a:rPr>
              <a:t> </a:t>
            </a:r>
            <a:r>
              <a:rPr dirty="0" sz="2850" spc="-160">
                <a:latin typeface="Arial MT"/>
                <a:cs typeface="Arial MT"/>
              </a:rPr>
              <a:t>previous</a:t>
            </a:r>
            <a:r>
              <a:rPr dirty="0" sz="2850" spc="50">
                <a:latin typeface="Arial MT"/>
                <a:cs typeface="Arial MT"/>
              </a:rPr>
              <a:t> </a:t>
            </a:r>
            <a:r>
              <a:rPr dirty="0" sz="2850" spc="-150">
                <a:latin typeface="Arial MT"/>
                <a:cs typeface="Arial MT"/>
              </a:rPr>
              <a:t>stable</a:t>
            </a:r>
            <a:r>
              <a:rPr dirty="0" sz="2850" spc="-45">
                <a:latin typeface="Arial MT"/>
                <a:cs typeface="Arial MT"/>
              </a:rPr>
              <a:t> </a:t>
            </a:r>
            <a:r>
              <a:rPr dirty="0" sz="2850" spc="-165">
                <a:latin typeface="Arial MT"/>
                <a:cs typeface="Arial MT"/>
              </a:rPr>
              <a:t>version</a:t>
            </a:r>
            <a:r>
              <a:rPr dirty="0" sz="2850" spc="60">
                <a:latin typeface="Arial MT"/>
                <a:cs typeface="Arial MT"/>
              </a:rPr>
              <a:t> </a:t>
            </a:r>
            <a:r>
              <a:rPr dirty="0" sz="2850" spc="-125">
                <a:latin typeface="Arial MT"/>
                <a:cs typeface="Arial MT"/>
              </a:rPr>
              <a:t>without</a:t>
            </a:r>
            <a:r>
              <a:rPr dirty="0" sz="2850" spc="-50">
                <a:latin typeface="Arial MT"/>
                <a:cs typeface="Arial MT"/>
              </a:rPr>
              <a:t> </a:t>
            </a:r>
            <a:r>
              <a:rPr dirty="0" sz="2850" spc="-40">
                <a:latin typeface="Arial MT"/>
                <a:cs typeface="Arial MT"/>
              </a:rPr>
              <a:t>interruption.</a:t>
            </a:r>
            <a:endParaRPr sz="2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9448800"/>
            <a:ext cx="15684500" cy="3048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300" y="1790700"/>
            <a:ext cx="11544300" cy="61595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82500" y="1765300"/>
            <a:ext cx="4356100" cy="65024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700" y="863600"/>
            <a:ext cx="203200" cy="7747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246600" y="8001000"/>
            <a:ext cx="114300" cy="36830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4610100" y="277283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 h="0">
                <a:moveTo>
                  <a:pt x="0" y="0"/>
                </a:moveTo>
                <a:lnTo>
                  <a:pt x="3852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6256000" y="277283"/>
            <a:ext cx="664845" cy="0"/>
          </a:xfrm>
          <a:custGeom>
            <a:avLst/>
            <a:gdLst/>
            <a:ahLst/>
            <a:cxnLst/>
            <a:rect l="l" t="t" r="r" b="b"/>
            <a:pathLst>
              <a:path w="664844" h="0">
                <a:moveTo>
                  <a:pt x="0" y="0"/>
                </a:moveTo>
                <a:lnTo>
                  <a:pt x="6646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700" y="1765300"/>
            <a:ext cx="127000" cy="3048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88400" y="3708400"/>
            <a:ext cx="2311400" cy="5715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28100" y="6756400"/>
            <a:ext cx="2501900" cy="9525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132300" y="774700"/>
            <a:ext cx="215900" cy="8001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129000" y="9029700"/>
            <a:ext cx="1219200" cy="5969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55100" y="3340100"/>
            <a:ext cx="2057400" cy="6731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938500" y="279400"/>
            <a:ext cx="1397000" cy="4826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801100" y="3352800"/>
            <a:ext cx="254000" cy="241300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1149" y="400755"/>
            <a:ext cx="11223625" cy="7029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450" spc="-30">
                <a:solidFill>
                  <a:srgbClr val="000000"/>
                </a:solidFill>
              </a:rPr>
              <a:t>Phase </a:t>
            </a:r>
            <a:r>
              <a:rPr dirty="0" sz="4450">
                <a:solidFill>
                  <a:srgbClr val="000000"/>
                </a:solidFill>
              </a:rPr>
              <a:t>2:</a:t>
            </a:r>
            <a:r>
              <a:rPr dirty="0" sz="4450" spc="-305">
                <a:solidFill>
                  <a:srgbClr val="000000"/>
                </a:solidFill>
              </a:rPr>
              <a:t> </a:t>
            </a:r>
            <a:r>
              <a:rPr dirty="0" sz="4450">
                <a:solidFill>
                  <a:srgbClr val="000000"/>
                </a:solidFill>
              </a:rPr>
              <a:t>Registration</a:t>
            </a:r>
            <a:r>
              <a:rPr dirty="0" sz="4450" spc="110">
                <a:solidFill>
                  <a:srgbClr val="000000"/>
                </a:solidFill>
              </a:rPr>
              <a:t> </a:t>
            </a:r>
            <a:r>
              <a:rPr dirty="0" sz="4450">
                <a:solidFill>
                  <a:srgbClr val="000000"/>
                </a:solidFill>
              </a:rPr>
              <a:t>and</a:t>
            </a:r>
            <a:r>
              <a:rPr dirty="0" sz="4450" spc="-180">
                <a:solidFill>
                  <a:srgbClr val="000000"/>
                </a:solidFill>
              </a:rPr>
              <a:t> </a:t>
            </a:r>
            <a:r>
              <a:rPr dirty="0" sz="4450">
                <a:solidFill>
                  <a:srgbClr val="000000"/>
                </a:solidFill>
              </a:rPr>
              <a:t>Semantic</a:t>
            </a:r>
            <a:r>
              <a:rPr dirty="0" sz="4450" spc="90">
                <a:solidFill>
                  <a:srgbClr val="000000"/>
                </a:solidFill>
              </a:rPr>
              <a:t> </a:t>
            </a:r>
            <a:r>
              <a:rPr dirty="0" sz="4450" spc="-10">
                <a:solidFill>
                  <a:srgbClr val="000000"/>
                </a:solidFill>
              </a:rPr>
              <a:t>Tagging</a:t>
            </a:r>
            <a:endParaRPr sz="4450"/>
          </a:p>
        </p:txBody>
      </p:sp>
      <p:sp>
        <p:nvSpPr>
          <p:cNvPr id="18" name="object 18" descr=""/>
          <p:cNvSpPr txBox="1"/>
          <p:nvPr/>
        </p:nvSpPr>
        <p:spPr>
          <a:xfrm>
            <a:off x="870988" y="3480152"/>
            <a:ext cx="1578610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-325">
                <a:latin typeface="Arial MT"/>
                <a:cs typeface="Arial MT"/>
              </a:rPr>
              <a:t>COMPUTE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399790" y="1597377"/>
            <a:ext cx="2534285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 spc="-25">
                <a:latin typeface="Arial MT"/>
                <a:cs typeface="Arial MT"/>
              </a:rPr>
              <a:t>Single</a:t>
            </a:r>
            <a:r>
              <a:rPr dirty="0" sz="3450" spc="-185">
                <a:latin typeface="Arial MT"/>
                <a:cs typeface="Arial MT"/>
              </a:rPr>
              <a:t> </a:t>
            </a:r>
            <a:r>
              <a:rPr dirty="0" sz="3450" spc="-10">
                <a:latin typeface="Arial MT"/>
                <a:cs typeface="Arial MT"/>
              </a:rPr>
              <a:t>Model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034250" y="3875969"/>
            <a:ext cx="1435100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>
                <a:latin typeface="Arial MT"/>
                <a:cs typeface="Arial MT"/>
              </a:rPr>
              <a:t>nodes.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pkl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97988" y="5024261"/>
            <a:ext cx="5826760" cy="1410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104515">
              <a:lnSpc>
                <a:spcPct val="100000"/>
              </a:lnSpc>
              <a:spcBef>
                <a:spcPts val="135"/>
              </a:spcBef>
            </a:pPr>
            <a:r>
              <a:rPr dirty="0" sz="3850" spc="-204">
                <a:latin typeface="Arial MT"/>
                <a:cs typeface="Arial MT"/>
              </a:rPr>
              <a:t>Cluster</a:t>
            </a:r>
            <a:r>
              <a:rPr dirty="0" sz="3850" spc="-40">
                <a:latin typeface="Arial MT"/>
                <a:cs typeface="Arial MT"/>
              </a:rPr>
              <a:t> </a:t>
            </a:r>
            <a:r>
              <a:rPr dirty="0" sz="3850" spc="-185">
                <a:latin typeface="Arial MT"/>
                <a:cs typeface="Arial MT"/>
              </a:rPr>
              <a:t>Model</a:t>
            </a:r>
            <a:endParaRPr sz="3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30"/>
              </a:spcBef>
            </a:pPr>
            <a:r>
              <a:rPr dirty="0" sz="2850" spc="-405">
                <a:latin typeface="Arial MT"/>
                <a:cs typeface="Arial MT"/>
              </a:rPr>
              <a:t>C08PUTE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780409" y="7513460"/>
            <a:ext cx="213042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155">
                <a:latin typeface="Consolas"/>
                <a:cs typeface="Consolas"/>
              </a:rPr>
              <a:t>Experiment_ID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215216" y="8392583"/>
            <a:ext cx="10985500" cy="977900"/>
          </a:xfrm>
          <a:prstGeom prst="rect">
            <a:avLst/>
          </a:prstGeom>
          <a:ln w="21166">
            <a:solidFill>
              <a:srgbClr val="2F3F5B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 algn="ctr" marL="45720">
              <a:lnSpc>
                <a:spcPts val="3190"/>
              </a:lnSpc>
              <a:spcBef>
                <a:spcPts val="165"/>
              </a:spcBef>
            </a:pPr>
            <a:r>
              <a:rPr dirty="0" sz="2900" spc="-50">
                <a:latin typeface="Arial MT"/>
                <a:cs typeface="Arial MT"/>
              </a:rPr>
              <a:t>State</a:t>
            </a:r>
            <a:r>
              <a:rPr dirty="0" sz="2900" spc="-204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Definition:</a:t>
            </a:r>
            <a:r>
              <a:rPr dirty="0" sz="2900" spc="-200">
                <a:latin typeface="Arial MT"/>
                <a:cs typeface="Arial MT"/>
              </a:rPr>
              <a:t> </a:t>
            </a:r>
            <a:r>
              <a:rPr dirty="0" sz="2900" spc="-135">
                <a:latin typeface="Arial MT"/>
                <a:cs typeface="Arial MT"/>
              </a:rPr>
              <a:t>The</a:t>
            </a:r>
            <a:r>
              <a:rPr dirty="0" sz="2900" spc="-65">
                <a:latin typeface="Arial MT"/>
                <a:cs typeface="Arial MT"/>
              </a:rPr>
              <a:t> </a:t>
            </a:r>
            <a:r>
              <a:rPr dirty="0" sz="2900" spc="-95">
                <a:latin typeface="Arial MT"/>
                <a:cs typeface="Arial MT"/>
              </a:rPr>
              <a:t>model</a:t>
            </a:r>
            <a:r>
              <a:rPr dirty="0" sz="2900" spc="-105">
                <a:latin typeface="Arial MT"/>
                <a:cs typeface="Arial MT"/>
              </a:rPr>
              <a:t> </a:t>
            </a:r>
            <a:r>
              <a:rPr dirty="0" sz="2900" spc="-20">
                <a:latin typeface="Arial MT"/>
                <a:cs typeface="Arial MT"/>
              </a:rPr>
              <a:t>is</a:t>
            </a:r>
            <a:r>
              <a:rPr dirty="0" sz="2900" spc="-180">
                <a:latin typeface="Arial MT"/>
                <a:cs typeface="Arial MT"/>
              </a:rPr>
              <a:t> </a:t>
            </a:r>
            <a:r>
              <a:rPr dirty="0" sz="2900" spc="-90">
                <a:latin typeface="Arial MT"/>
                <a:cs typeface="Arial MT"/>
              </a:rPr>
              <a:t>now</a:t>
            </a:r>
            <a:r>
              <a:rPr dirty="0" sz="2900" spc="-110">
                <a:latin typeface="Arial MT"/>
                <a:cs typeface="Arial MT"/>
              </a:rPr>
              <a:t> </a:t>
            </a:r>
            <a:r>
              <a:rPr dirty="0" sz="2900" spc="-50">
                <a:latin typeface="Arial MT"/>
                <a:cs typeface="Arial MT"/>
              </a:rPr>
              <a:t>in</a:t>
            </a:r>
            <a:r>
              <a:rPr dirty="0" sz="2900" spc="-15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the</a:t>
            </a:r>
            <a:r>
              <a:rPr dirty="0" sz="2900" spc="-200">
                <a:latin typeface="Arial MT"/>
                <a:cs typeface="Arial MT"/>
              </a:rPr>
              <a:t> </a:t>
            </a:r>
            <a:r>
              <a:rPr dirty="0" sz="2900" spc="-70">
                <a:latin typeface="Arial MT"/>
                <a:cs typeface="Arial MT"/>
              </a:rPr>
              <a:t>Registry</a:t>
            </a:r>
            <a:r>
              <a:rPr dirty="0" sz="2900" spc="20">
                <a:latin typeface="Arial MT"/>
                <a:cs typeface="Arial MT"/>
              </a:rPr>
              <a:t> </a:t>
            </a:r>
            <a:r>
              <a:rPr dirty="0" sz="2900" spc="-20">
                <a:latin typeface="Arial MT"/>
                <a:cs typeface="Arial MT"/>
              </a:rPr>
              <a:t>but</a:t>
            </a:r>
            <a:r>
              <a:rPr dirty="0" sz="2900" spc="-90">
                <a:latin typeface="Arial MT"/>
                <a:cs typeface="Arial MT"/>
              </a:rPr>
              <a:t> </a:t>
            </a:r>
            <a:r>
              <a:rPr dirty="0" sz="2900" spc="-50">
                <a:latin typeface="Arial MT"/>
                <a:cs typeface="Arial MT"/>
              </a:rPr>
              <a:t>tagged</a:t>
            </a:r>
            <a:r>
              <a:rPr dirty="0" sz="2900" spc="-130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as</a:t>
            </a:r>
            <a:endParaRPr sz="2900">
              <a:latin typeface="Arial MT"/>
              <a:cs typeface="Arial MT"/>
            </a:endParaRPr>
          </a:p>
          <a:p>
            <a:pPr algn="ctr" marL="36195">
              <a:lnSpc>
                <a:spcPts val="3190"/>
              </a:lnSpc>
              <a:tabLst>
                <a:tab pos="1702435" algn="l"/>
              </a:tabLst>
            </a:pPr>
            <a:r>
              <a:rPr dirty="0" sz="2900" spc="-10">
                <a:latin typeface="Arial MT"/>
                <a:cs typeface="Arial MT"/>
              </a:rPr>
              <a:t>§stag1ng</a:t>
            </a:r>
            <a:r>
              <a:rPr dirty="0" sz="2900">
                <a:latin typeface="Arial MT"/>
                <a:cs typeface="Arial MT"/>
              </a:rPr>
              <a:t>	or</a:t>
            </a:r>
            <a:r>
              <a:rPr dirty="0" sz="2900" spc="10">
                <a:latin typeface="Arial MT"/>
                <a:cs typeface="Arial MT"/>
              </a:rPr>
              <a:t> </a:t>
            </a:r>
            <a:r>
              <a:rPr dirty="0" sz="2900" spc="-40">
                <a:latin typeface="Arial MT"/>
                <a:cs typeface="Arial MT"/>
              </a:rPr>
              <a:t>§cand1date.</a:t>
            </a:r>
            <a:r>
              <a:rPr dirty="0" sz="2900" spc="-10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It</a:t>
            </a:r>
            <a:r>
              <a:rPr dirty="0" sz="2900" spc="-195">
                <a:latin typeface="Arial MT"/>
                <a:cs typeface="Arial MT"/>
              </a:rPr>
              <a:t> </a:t>
            </a:r>
            <a:r>
              <a:rPr dirty="0" sz="2900" spc="-20">
                <a:latin typeface="Arial MT"/>
                <a:cs typeface="Arial MT"/>
              </a:rPr>
              <a:t>is</a:t>
            </a:r>
            <a:r>
              <a:rPr dirty="0" sz="2900" spc="-18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not</a:t>
            </a:r>
            <a:r>
              <a:rPr dirty="0" sz="2900" spc="-8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yet</a:t>
            </a:r>
            <a:r>
              <a:rPr dirty="0" sz="2900" spc="10">
                <a:latin typeface="Arial MT"/>
                <a:cs typeface="Arial MT"/>
              </a:rPr>
              <a:t> </a:t>
            </a:r>
            <a:r>
              <a:rPr dirty="0" sz="2900" spc="-60">
                <a:latin typeface="Arial MT"/>
                <a:cs typeface="Arial MT"/>
              </a:rPr>
              <a:t>visible</a:t>
            </a:r>
            <a:r>
              <a:rPr dirty="0" sz="2900" spc="-12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to</a:t>
            </a:r>
            <a:r>
              <a:rPr dirty="0" sz="2900" spc="-105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the</a:t>
            </a:r>
            <a:r>
              <a:rPr dirty="0" sz="2900" spc="-200">
                <a:latin typeface="Arial MT"/>
                <a:cs typeface="Arial MT"/>
              </a:rPr>
              <a:t> </a:t>
            </a:r>
            <a:r>
              <a:rPr dirty="0" sz="2900" spc="-65">
                <a:latin typeface="Arial MT"/>
                <a:cs typeface="Arial MT"/>
              </a:rPr>
              <a:t>Scoring</a:t>
            </a:r>
            <a:r>
              <a:rPr dirty="0" sz="2900" spc="35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service.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2159" y="8767233"/>
            <a:ext cx="13589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785" i="1">
                <a:solidFill>
                  <a:srgbClr val="606060"/>
                </a:solidFill>
                <a:latin typeface="Calibri"/>
                <a:cs typeface="Calibri"/>
              </a:rPr>
              <a:t>“-</a:t>
            </a:r>
            <a:r>
              <a:rPr dirty="0" sz="2900" spc="-965" i="1">
                <a:solidFill>
                  <a:srgbClr val="606060"/>
                </a:solidFill>
                <a:latin typeface="Calibri"/>
                <a:cs typeface="Calibri"/>
              </a:rPr>
              <a:t>”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4055876" y="1613252"/>
            <a:ext cx="1520825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-380">
                <a:latin typeface="Arial MT"/>
                <a:cs typeface="Arial MT"/>
              </a:rPr>
              <a:t>REGISTRY</a:t>
            </a:r>
            <a:endParaRPr sz="2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600" y="139700"/>
            <a:ext cx="16979900" cy="9613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0741" rIns="0" bIns="0" rtlCol="0" vert="horz">
            <a:spAutoFit/>
          </a:bodyPr>
          <a:lstStyle/>
          <a:p>
            <a:pPr marL="742315">
              <a:lnSpc>
                <a:spcPct val="100000"/>
              </a:lnSpc>
              <a:spcBef>
                <a:spcPts val="100"/>
              </a:spcBef>
            </a:pPr>
            <a:r>
              <a:rPr dirty="0" sz="7150" spc="-495">
                <a:solidFill>
                  <a:srgbClr val="52606B"/>
                </a:solidFill>
              </a:rPr>
              <a:t>Phase</a:t>
            </a:r>
            <a:r>
              <a:rPr dirty="0" sz="7150" spc="-180">
                <a:solidFill>
                  <a:srgbClr val="52606B"/>
                </a:solidFill>
              </a:rPr>
              <a:t> </a:t>
            </a:r>
            <a:r>
              <a:rPr dirty="0" sz="7150" spc="-100">
                <a:solidFill>
                  <a:srgbClr val="505D69"/>
                </a:solidFill>
              </a:rPr>
              <a:t>3:</a:t>
            </a:r>
            <a:r>
              <a:rPr dirty="0" sz="7150" spc="-625">
                <a:solidFill>
                  <a:srgbClr val="505D69"/>
                </a:solidFill>
              </a:rPr>
              <a:t> </a:t>
            </a:r>
            <a:r>
              <a:rPr dirty="0" sz="7150" spc="-455">
                <a:solidFill>
                  <a:srgbClr val="52646E"/>
                </a:solidFill>
              </a:rPr>
              <a:t>The</a:t>
            </a:r>
            <a:r>
              <a:rPr dirty="0" sz="7150" spc="-430">
                <a:solidFill>
                  <a:srgbClr val="52646E"/>
                </a:solidFill>
              </a:rPr>
              <a:t> </a:t>
            </a:r>
            <a:r>
              <a:rPr dirty="0" sz="7150" spc="-295">
                <a:solidFill>
                  <a:srgbClr val="4D5D67"/>
                </a:solidFill>
              </a:rPr>
              <a:t>Promotion</a:t>
            </a:r>
            <a:r>
              <a:rPr dirty="0" sz="7150" spc="-85">
                <a:solidFill>
                  <a:srgbClr val="4D5D67"/>
                </a:solidFill>
              </a:rPr>
              <a:t> </a:t>
            </a:r>
            <a:r>
              <a:rPr dirty="0" sz="7150" spc="-490">
                <a:solidFill>
                  <a:srgbClr val="526069"/>
                </a:solidFill>
              </a:rPr>
              <a:t>Gate</a:t>
            </a:r>
            <a:endParaRPr sz="7150"/>
          </a:p>
        </p:txBody>
      </p:sp>
      <p:sp>
        <p:nvSpPr>
          <p:cNvPr id="4" name="object 4" descr=""/>
          <p:cNvSpPr txBox="1"/>
          <p:nvPr/>
        </p:nvSpPr>
        <p:spPr>
          <a:xfrm>
            <a:off x="2362415" y="2704747"/>
            <a:ext cx="7056755" cy="2022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649595">
              <a:lnSpc>
                <a:spcPts val="2415"/>
              </a:lnSpc>
              <a:spcBef>
                <a:spcPts val="100"/>
              </a:spcBef>
            </a:pPr>
            <a:r>
              <a:rPr dirty="0" sz="2150" spc="-90">
                <a:latin typeface="Consolas"/>
                <a:cs typeface="Consolas"/>
              </a:rPr>
              <a:t>Evaluation</a:t>
            </a:r>
            <a:endParaRPr sz="2150">
              <a:latin typeface="Consolas"/>
              <a:cs typeface="Consolas"/>
            </a:endParaRPr>
          </a:p>
          <a:p>
            <a:pPr algn="ctr" marL="5678170">
              <a:lnSpc>
                <a:spcPts val="2595"/>
              </a:lnSpc>
            </a:pPr>
            <a:r>
              <a:rPr dirty="0" sz="2300" spc="-10">
                <a:latin typeface="Consolas"/>
                <a:cs typeface="Consolas"/>
              </a:rPr>
              <a:t>Logic</a:t>
            </a:r>
            <a:endParaRPr sz="23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3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2300">
              <a:latin typeface="Consolas"/>
              <a:cs typeface="Consolas"/>
            </a:endParaRPr>
          </a:p>
          <a:p>
            <a:pPr marL="290830" marR="2931160" indent="-278765">
              <a:lnSpc>
                <a:spcPts val="2600"/>
              </a:lnSpc>
            </a:pPr>
            <a:r>
              <a:rPr dirty="0" sz="2350" spc="-135">
                <a:latin typeface="Consolas"/>
                <a:cs typeface="Consolas"/>
              </a:rPr>
              <a:t>Inneuting</a:t>
            </a:r>
            <a:r>
              <a:rPr dirty="0" sz="2350" spc="-190">
                <a:latin typeface="Consolas"/>
                <a:cs typeface="Consolas"/>
              </a:rPr>
              <a:t> </a:t>
            </a:r>
            <a:r>
              <a:rPr dirty="0" sz="2350" spc="-175">
                <a:latin typeface="Consolas"/>
                <a:cs typeface="Consolas"/>
              </a:rPr>
              <a:t>that</a:t>
            </a:r>
            <a:r>
              <a:rPr dirty="0" sz="2350" spc="-145">
                <a:latin typeface="Consolas"/>
                <a:cs typeface="Consolas"/>
              </a:rPr>
              <a:t> </a:t>
            </a:r>
            <a:r>
              <a:rPr dirty="0" sz="2350" spc="-175">
                <a:latin typeface="Consolas"/>
                <a:cs typeface="Consolas"/>
              </a:rPr>
              <a:t>'</a:t>
            </a:r>
            <a:r>
              <a:rPr dirty="0" sz="2350" spc="-195">
                <a:latin typeface="Consolas"/>
                <a:cs typeface="Consolas"/>
              </a:rPr>
              <a:t> </a:t>
            </a:r>
            <a:r>
              <a:rPr dirty="0" sz="2350" spc="-95">
                <a:latin typeface="Consolas"/>
                <a:cs typeface="Consolas"/>
              </a:rPr>
              <a:t>h&amp;up’</a:t>
            </a:r>
            <a:r>
              <a:rPr dirty="0" sz="2350" spc="-160">
                <a:latin typeface="Consolas"/>
                <a:cs typeface="Consolas"/>
              </a:rPr>
              <a:t> </a:t>
            </a:r>
            <a:r>
              <a:rPr dirty="0" sz="2350" spc="-110">
                <a:latin typeface="Consolas"/>
                <a:cs typeface="Consolas"/>
              </a:rPr>
              <a:t>never </a:t>
            </a:r>
            <a:r>
              <a:rPr dirty="0" sz="2350">
                <a:latin typeface="Consolas"/>
                <a:cs typeface="Consolas"/>
              </a:rPr>
              <a:t>oev:</a:t>
            </a:r>
            <a:r>
              <a:rPr dirty="0" sz="2350" spc="-310">
                <a:latin typeface="Consolas"/>
                <a:cs typeface="Consolas"/>
              </a:rPr>
              <a:t> </a:t>
            </a:r>
            <a:r>
              <a:rPr dirty="0" sz="2350">
                <a:latin typeface="Consolas"/>
                <a:cs typeface="Consolas"/>
              </a:rPr>
              <a:t>a</a:t>
            </a:r>
            <a:r>
              <a:rPr dirty="0" sz="2350" spc="-320">
                <a:latin typeface="Consolas"/>
                <a:cs typeface="Consolas"/>
              </a:rPr>
              <a:t> </a:t>
            </a:r>
            <a:r>
              <a:rPr dirty="0" sz="2350" spc="-140">
                <a:latin typeface="Consolas"/>
                <a:cs typeface="Consolas"/>
              </a:rPr>
              <a:t>half-</a:t>
            </a:r>
            <a:r>
              <a:rPr dirty="0" sz="2350" spc="-60">
                <a:latin typeface="Consolas"/>
                <a:cs typeface="Consolas"/>
              </a:rPr>
              <a:t>baked</a:t>
            </a:r>
            <a:r>
              <a:rPr dirty="0" sz="2350" spc="40">
                <a:latin typeface="Consolas"/>
                <a:cs typeface="Consolas"/>
              </a:rPr>
              <a:t> </a:t>
            </a:r>
            <a:r>
              <a:rPr dirty="0" sz="2350" spc="-10">
                <a:latin typeface="Consolas"/>
                <a:cs typeface="Consolas"/>
              </a:rPr>
              <a:t>model.</a:t>
            </a:r>
            <a:endParaRPr sz="235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165491" y="6137275"/>
            <a:ext cx="11189970" cy="26308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55880">
              <a:lnSpc>
                <a:spcPct val="100000"/>
              </a:lnSpc>
              <a:spcBef>
                <a:spcPts val="125"/>
              </a:spcBef>
            </a:pPr>
            <a:r>
              <a:rPr dirty="0" sz="3100" spc="-195">
                <a:latin typeface="Consolas"/>
                <a:cs typeface="Consolas"/>
              </a:rPr>
              <a:t>Tag</a:t>
            </a:r>
            <a:r>
              <a:rPr dirty="0" sz="3100" spc="-215">
                <a:latin typeface="Consolas"/>
                <a:cs typeface="Consolas"/>
              </a:rPr>
              <a:t> </a:t>
            </a:r>
            <a:r>
              <a:rPr dirty="0" sz="3100" spc="-35">
                <a:latin typeface="Consolas"/>
                <a:cs typeface="Consolas"/>
              </a:rPr>
              <a:t>Switch</a:t>
            </a:r>
            <a:endParaRPr sz="31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2580"/>
              </a:spcBef>
            </a:pPr>
            <a:r>
              <a:rPr dirty="0" sz="3100" spc="-175">
                <a:latin typeface="Consolas"/>
                <a:cs typeface="Consolas"/>
              </a:rPr>
              <a:t>Atomic</a:t>
            </a:r>
            <a:r>
              <a:rPr dirty="0" sz="3100" spc="-250">
                <a:latin typeface="Consolas"/>
                <a:cs typeface="Consolas"/>
              </a:rPr>
              <a:t> </a:t>
            </a:r>
            <a:r>
              <a:rPr dirty="0" sz="3100" spc="-204">
                <a:latin typeface="Consolas"/>
                <a:cs typeface="Consolas"/>
              </a:rPr>
              <a:t>Operation:</a:t>
            </a:r>
            <a:r>
              <a:rPr dirty="0" sz="3100" spc="-160">
                <a:latin typeface="Consolas"/>
                <a:cs typeface="Consolas"/>
              </a:rPr>
              <a:t> </a:t>
            </a:r>
            <a:r>
              <a:rPr dirty="0" sz="3100" spc="-150">
                <a:latin typeface="Consolas"/>
                <a:cs typeface="Consolas"/>
              </a:rPr>
              <a:t>The</a:t>
            </a:r>
            <a:r>
              <a:rPr dirty="0" sz="3100" spc="-204">
                <a:latin typeface="Consolas"/>
                <a:cs typeface="Consolas"/>
              </a:rPr>
              <a:t> </a:t>
            </a:r>
            <a:r>
              <a:rPr dirty="0" sz="3100" spc="-260">
                <a:latin typeface="Consolas"/>
                <a:cs typeface="Consolas"/>
              </a:rPr>
              <a:t>tag</a:t>
            </a:r>
            <a:r>
              <a:rPr dirty="0" sz="3100" spc="-165">
                <a:latin typeface="Consolas"/>
                <a:cs typeface="Consolas"/>
              </a:rPr>
              <a:t> </a:t>
            </a:r>
            <a:r>
              <a:rPr dirty="0" sz="3100" spc="-195">
                <a:latin typeface="Consolas"/>
                <a:cs typeface="Consolas"/>
              </a:rPr>
              <a:t>switch</a:t>
            </a:r>
            <a:r>
              <a:rPr dirty="0" sz="3100" spc="-190">
                <a:latin typeface="Consolas"/>
                <a:cs typeface="Consolas"/>
              </a:rPr>
              <a:t> happens</a:t>
            </a:r>
            <a:r>
              <a:rPr dirty="0" sz="3100" spc="-235">
                <a:latin typeface="Consolas"/>
                <a:cs typeface="Consolas"/>
              </a:rPr>
              <a:t> </a:t>
            </a:r>
            <a:r>
              <a:rPr dirty="0" sz="3100" spc="-95">
                <a:latin typeface="Consolas"/>
                <a:cs typeface="Consolas"/>
              </a:rPr>
              <a:t>in</a:t>
            </a:r>
            <a:r>
              <a:rPr dirty="0" sz="3100" spc="-315">
                <a:latin typeface="Consolas"/>
                <a:cs typeface="Consolas"/>
              </a:rPr>
              <a:t> </a:t>
            </a:r>
            <a:r>
              <a:rPr dirty="0" sz="3100" spc="-100">
                <a:latin typeface="Consolas"/>
                <a:cs typeface="Consolas"/>
              </a:rPr>
              <a:t>milliseconds.</a:t>
            </a:r>
            <a:endParaRPr sz="3100">
              <a:latin typeface="Consolas"/>
              <a:cs typeface="Consolas"/>
            </a:endParaRPr>
          </a:p>
          <a:p>
            <a:pPr algn="ctr">
              <a:lnSpc>
                <a:spcPts val="3645"/>
              </a:lnSpc>
              <a:spcBef>
                <a:spcPts val="3180"/>
              </a:spcBef>
              <a:tabLst>
                <a:tab pos="972185" algn="l"/>
                <a:tab pos="2516505" algn="l"/>
                <a:tab pos="3508375" algn="l"/>
                <a:tab pos="5405120" algn="l"/>
                <a:tab pos="6575425" algn="l"/>
                <a:tab pos="7538084" algn="l"/>
                <a:tab pos="7919720" algn="l"/>
                <a:tab pos="10028555" algn="l"/>
              </a:tabLst>
            </a:pPr>
            <a:r>
              <a:rPr dirty="0" sz="3200" spc="-20">
                <a:latin typeface="Arial MT"/>
                <a:cs typeface="Arial MT"/>
              </a:rPr>
              <a:t>This</a:t>
            </a: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 spc="-10">
                <a:latin typeface="Arial MT"/>
                <a:cs typeface="Arial MT"/>
              </a:rPr>
              <a:t>ensures</a:t>
            </a: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 spc="95">
                <a:latin typeface="Arial MT"/>
                <a:cs typeface="Arial MT"/>
              </a:rPr>
              <a:t>that</a:t>
            </a: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 spc="-10">
                <a:latin typeface="Arial MT"/>
                <a:cs typeface="Arial MT"/>
              </a:rPr>
              <a:t>"Scoring"</a:t>
            </a: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 spc="-10">
                <a:latin typeface="Arial MT"/>
                <a:cs typeface="Arial MT"/>
              </a:rPr>
              <a:t>never</a:t>
            </a: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 spc="-20">
                <a:latin typeface="Arial MT"/>
                <a:cs typeface="Arial MT"/>
              </a:rPr>
              <a:t>sees</a:t>
            </a: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 spc="-459">
                <a:latin typeface="Arial MT"/>
                <a:cs typeface="Arial MT"/>
              </a:rPr>
              <a:t>a</a:t>
            </a: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 spc="-10">
                <a:latin typeface="Arial MT"/>
                <a:cs typeface="Arial MT"/>
              </a:rPr>
              <a:t>half-baked</a:t>
            </a: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 spc="-10">
                <a:latin typeface="Arial MT"/>
                <a:cs typeface="Arial MT"/>
              </a:rPr>
              <a:t>riodel.</a:t>
            </a:r>
            <a:endParaRPr sz="3200">
              <a:latin typeface="Arial MT"/>
              <a:cs typeface="Arial MT"/>
            </a:endParaRPr>
          </a:p>
          <a:p>
            <a:pPr algn="ctr" marL="3175">
              <a:lnSpc>
                <a:spcPts val="3645"/>
              </a:lnSpc>
              <a:tabLst>
                <a:tab pos="600075" algn="l"/>
                <a:tab pos="1559560" algn="l"/>
                <a:tab pos="2924175" algn="l"/>
                <a:tab pos="4458335" algn="l"/>
                <a:tab pos="5242560" algn="l"/>
                <a:tab pos="5824855" algn="l"/>
                <a:tab pos="6579870" algn="l"/>
              </a:tabLst>
            </a:pPr>
            <a:r>
              <a:rPr dirty="0" sz="3200" spc="-25">
                <a:latin typeface="Arial MT"/>
                <a:cs typeface="Arial MT"/>
              </a:rPr>
              <a:t>It</a:t>
            </a: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 spc="-20">
                <a:latin typeface="Arial MT"/>
                <a:cs typeface="Arial MT"/>
              </a:rPr>
              <a:t>sees</a:t>
            </a:r>
            <a:r>
              <a:rPr dirty="0" sz="3200">
                <a:latin typeface="Arial MT"/>
                <a:cs typeface="Arial MT"/>
              </a:rPr>
              <a:t>	v1</a:t>
            </a:r>
            <a:r>
              <a:rPr dirty="0" sz="3200" spc="330">
                <a:latin typeface="Arial MT"/>
                <a:cs typeface="Arial MT"/>
              </a:rPr>
              <a:t> </a:t>
            </a:r>
            <a:r>
              <a:rPr dirty="0" sz="3200" spc="-370">
                <a:latin typeface="Arial MT"/>
                <a:cs typeface="Arial MT"/>
              </a:rPr>
              <a:t>one</a:t>
            </a: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 spc="-10">
                <a:latin typeface="Arial MT"/>
                <a:cs typeface="Arial MT"/>
              </a:rPr>
              <a:t>second,</a:t>
            </a: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 spc="-315">
                <a:latin typeface="Arial MT"/>
                <a:cs typeface="Arial MT"/>
              </a:rPr>
              <a:t>and</a:t>
            </a: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 spc="-285">
                <a:latin typeface="Arial MT"/>
                <a:cs typeface="Arial MT"/>
              </a:rPr>
              <a:t>v2</a:t>
            </a: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 spc="-25">
                <a:latin typeface="Arial MT"/>
                <a:cs typeface="Arial MT"/>
              </a:rPr>
              <a:t>the</a:t>
            </a:r>
            <a:r>
              <a:rPr dirty="0" sz="3200">
                <a:latin typeface="Arial MT"/>
                <a:cs typeface="Arial MT"/>
              </a:rPr>
              <a:t>	</a:t>
            </a:r>
            <a:r>
              <a:rPr dirty="0" sz="3200" spc="80">
                <a:latin typeface="Arial MT"/>
                <a:cs typeface="Arial MT"/>
              </a:rPr>
              <a:t>next.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93700" y="139700"/>
            <a:ext cx="17005300" cy="9613900"/>
            <a:chOff x="393700" y="139700"/>
            <a:chExt cx="17005300" cy="9613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3700" y="139700"/>
              <a:ext cx="17005300" cy="96139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28800" y="9588500"/>
              <a:ext cx="228600" cy="1016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6932" rIns="0" bIns="0" rtlCol="0" vert="horz">
            <a:spAutoFit/>
          </a:bodyPr>
          <a:lstStyle/>
          <a:p>
            <a:pPr marL="759460">
              <a:lnSpc>
                <a:spcPct val="100000"/>
              </a:lnSpc>
              <a:spcBef>
                <a:spcPts val="114"/>
              </a:spcBef>
            </a:pPr>
            <a:r>
              <a:rPr dirty="0" sz="5400">
                <a:solidFill>
                  <a:srgbClr val="546069"/>
                </a:solidFill>
              </a:rPr>
              <a:t>Phase</a:t>
            </a:r>
            <a:r>
              <a:rPr dirty="0" sz="5400" spc="-20">
                <a:solidFill>
                  <a:srgbClr val="546069"/>
                </a:solidFill>
              </a:rPr>
              <a:t> </a:t>
            </a:r>
            <a:r>
              <a:rPr dirty="0" sz="5400" spc="200">
                <a:solidFill>
                  <a:srgbClr val="5B5B5B"/>
                </a:solidFill>
              </a:rPr>
              <a:t>4:</a:t>
            </a:r>
            <a:r>
              <a:rPr dirty="0" sz="5400" spc="-495">
                <a:solidFill>
                  <a:srgbClr val="5B5B5B"/>
                </a:solidFill>
              </a:rPr>
              <a:t> </a:t>
            </a:r>
            <a:r>
              <a:rPr dirty="0" sz="5400" spc="100">
                <a:solidFill>
                  <a:srgbClr val="575757"/>
                </a:solidFill>
              </a:rPr>
              <a:t>Scoring</a:t>
            </a:r>
            <a:r>
              <a:rPr dirty="0" sz="5400" spc="35">
                <a:solidFill>
                  <a:srgbClr val="575757"/>
                </a:solidFill>
              </a:rPr>
              <a:t> </a:t>
            </a:r>
            <a:r>
              <a:rPr dirty="0" sz="5400" spc="85">
                <a:solidFill>
                  <a:srgbClr val="5B6970"/>
                </a:solidFill>
              </a:rPr>
              <a:t>via</a:t>
            </a:r>
            <a:r>
              <a:rPr dirty="0" sz="5400" spc="-290">
                <a:solidFill>
                  <a:srgbClr val="5B6970"/>
                </a:solidFill>
              </a:rPr>
              <a:t> </a:t>
            </a:r>
            <a:r>
              <a:rPr dirty="0" sz="5400">
                <a:solidFill>
                  <a:srgbClr val="56626B"/>
                </a:solidFill>
              </a:rPr>
              <a:t>Reference,</a:t>
            </a:r>
            <a:r>
              <a:rPr dirty="0" sz="5400" spc="-80">
                <a:solidFill>
                  <a:srgbClr val="56626B"/>
                </a:solidFill>
              </a:rPr>
              <a:t> </a:t>
            </a:r>
            <a:r>
              <a:rPr dirty="0" sz="5400" spc="80"/>
              <a:t>Not</a:t>
            </a:r>
            <a:r>
              <a:rPr dirty="0" sz="5400" spc="-125"/>
              <a:t> </a:t>
            </a:r>
            <a:r>
              <a:rPr dirty="0" sz="5400" spc="60"/>
              <a:t>Execution</a:t>
            </a:r>
            <a:endParaRPr sz="5400"/>
          </a:p>
        </p:txBody>
      </p:sp>
      <p:sp>
        <p:nvSpPr>
          <p:cNvPr id="6" name="object 6" descr=""/>
          <p:cNvSpPr txBox="1"/>
          <p:nvPr/>
        </p:nvSpPr>
        <p:spPr>
          <a:xfrm>
            <a:off x="2988407" y="2488847"/>
            <a:ext cx="123952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80">
                <a:latin typeface="Arial MT"/>
                <a:cs typeface="Arial MT"/>
              </a:rPr>
              <a:t>REGISTRY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305745" y="2538941"/>
            <a:ext cx="21336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85" i="1">
                <a:solidFill>
                  <a:srgbClr val="2D5499"/>
                </a:solidFill>
                <a:latin typeface="Arial"/>
                <a:cs typeface="Arial"/>
              </a:rPr>
              <a:t>”M</a:t>
            </a:r>
            <a:endParaRPr sz="14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370407" y="2126897"/>
            <a:ext cx="944244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45">
                <a:latin typeface="Arial MT"/>
                <a:cs typeface="Arial MT"/>
              </a:rPr>
              <a:t>Refresh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356744" y="2420408"/>
            <a:ext cx="476884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65">
                <a:latin typeface="Arial MT"/>
                <a:cs typeface="Arial MT"/>
              </a:rPr>
              <a:t>Poll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513022" y="4720166"/>
            <a:ext cx="259270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70">
                <a:latin typeface="Arial MT"/>
                <a:cs typeface="Arial MT"/>
              </a:rPr>
              <a:t>INFERENCE</a:t>
            </a:r>
            <a:r>
              <a:rPr dirty="0" sz="2050" spc="25">
                <a:latin typeface="Arial MT"/>
                <a:cs typeface="Arial MT"/>
              </a:rPr>
              <a:t> </a:t>
            </a:r>
            <a:r>
              <a:rPr dirty="0" sz="2050" spc="-80">
                <a:latin typeface="Arial MT"/>
                <a:cs typeface="Arial MT"/>
              </a:rPr>
              <a:t>SERVICE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03101" y="5197475"/>
            <a:ext cx="10219055" cy="37731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7940">
              <a:lnSpc>
                <a:spcPts val="3460"/>
              </a:lnSpc>
              <a:spcBef>
                <a:spcPts val="125"/>
              </a:spcBef>
            </a:pPr>
            <a:r>
              <a:rPr dirty="0" sz="3100" spc="-130">
                <a:latin typeface="Arial MT"/>
                <a:cs typeface="Arial MT"/>
              </a:rPr>
              <a:t>Text</a:t>
            </a:r>
            <a:r>
              <a:rPr dirty="0" sz="3100" spc="-85">
                <a:latin typeface="Arial MT"/>
                <a:cs typeface="Arial MT"/>
              </a:rPr>
              <a:t> </a:t>
            </a:r>
            <a:r>
              <a:rPr dirty="0" sz="3100" spc="-35">
                <a:latin typeface="Arial MT"/>
                <a:cs typeface="Arial MT"/>
              </a:rPr>
              <a:t>Mechanism:</a:t>
            </a:r>
            <a:endParaRPr sz="3100">
              <a:latin typeface="Arial MT"/>
              <a:cs typeface="Arial MT"/>
            </a:endParaRPr>
          </a:p>
          <a:p>
            <a:pPr marL="762000" marR="8255" indent="-20320">
              <a:lnSpc>
                <a:spcPts val="3300"/>
              </a:lnSpc>
              <a:spcBef>
                <a:spcPts val="200"/>
              </a:spcBef>
            </a:pPr>
            <a:r>
              <a:rPr dirty="0" sz="3100" spc="-95">
                <a:latin typeface="Arial MT"/>
                <a:cs typeface="Arial MT"/>
              </a:rPr>
              <a:t>Reload</a:t>
            </a:r>
            <a:r>
              <a:rPr dirty="0" sz="3100" spc="-165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Policy:</a:t>
            </a:r>
            <a:r>
              <a:rPr dirty="0" sz="3100" spc="-220">
                <a:latin typeface="Arial MT"/>
                <a:cs typeface="Arial MT"/>
              </a:rPr>
              <a:t> </a:t>
            </a:r>
            <a:r>
              <a:rPr dirty="0" sz="3100" spc="-85">
                <a:latin typeface="Arial MT"/>
                <a:cs typeface="Arial MT"/>
              </a:rPr>
              <a:t>The</a:t>
            </a:r>
            <a:r>
              <a:rPr dirty="0" sz="3100" spc="-90">
                <a:latin typeface="Arial MT"/>
                <a:cs typeface="Arial MT"/>
              </a:rPr>
              <a:t> </a:t>
            </a:r>
            <a:r>
              <a:rPr dirty="0" sz="3100" spc="-85">
                <a:latin typeface="Arial MT"/>
                <a:cs typeface="Arial MT"/>
              </a:rPr>
              <a:t>service</a:t>
            </a:r>
            <a:r>
              <a:rPr dirty="0" sz="3100" spc="-110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pollls</a:t>
            </a:r>
            <a:r>
              <a:rPr dirty="0" sz="3100" spc="-35">
                <a:latin typeface="Arial MT"/>
                <a:cs typeface="Arial MT"/>
              </a:rPr>
              <a:t> </a:t>
            </a:r>
            <a:r>
              <a:rPr dirty="0" sz="3100" spc="-25">
                <a:latin typeface="Arial MT"/>
                <a:cs typeface="Arial MT"/>
              </a:rPr>
              <a:t>the</a:t>
            </a:r>
            <a:r>
              <a:rPr dirty="0" sz="3100" spc="-190">
                <a:latin typeface="Arial MT"/>
                <a:cs typeface="Arial MT"/>
              </a:rPr>
              <a:t> </a:t>
            </a:r>
            <a:r>
              <a:rPr dirty="0" sz="3100" spc="-20">
                <a:latin typeface="Arial MT"/>
                <a:cs typeface="Arial MT"/>
              </a:rPr>
              <a:t>registry</a:t>
            </a:r>
            <a:r>
              <a:rPr dirty="0" sz="3100" spc="-45">
                <a:latin typeface="Arial MT"/>
                <a:cs typeface="Arial MT"/>
              </a:rPr>
              <a:t> </a:t>
            </a:r>
            <a:r>
              <a:rPr dirty="0" sz="3100" spc="-25">
                <a:latin typeface="Arial MT"/>
                <a:cs typeface="Arial MT"/>
              </a:rPr>
              <a:t>periodically </a:t>
            </a:r>
            <a:r>
              <a:rPr dirty="0" sz="3100" spc="-145">
                <a:latin typeface="Arial MT"/>
                <a:cs typeface="Arial MT"/>
              </a:rPr>
              <a:t>(e.g.,</a:t>
            </a:r>
            <a:r>
              <a:rPr dirty="0" sz="3100" spc="-75">
                <a:latin typeface="Arial MT"/>
                <a:cs typeface="Arial MT"/>
              </a:rPr>
              <a:t> </a:t>
            </a:r>
            <a:r>
              <a:rPr dirty="0" sz="3100" spc="-105">
                <a:latin typeface="Arial MT"/>
                <a:cs typeface="Arial MT"/>
              </a:rPr>
              <a:t>every</a:t>
            </a:r>
            <a:r>
              <a:rPr dirty="0" sz="3100" spc="-110">
                <a:latin typeface="Arial MT"/>
                <a:cs typeface="Arial MT"/>
              </a:rPr>
              <a:t> </a:t>
            </a:r>
            <a:r>
              <a:rPr dirty="0" sz="3100" spc="-145">
                <a:latin typeface="Arial MT"/>
                <a:cs typeface="Arial MT"/>
              </a:rPr>
              <a:t>5</a:t>
            </a:r>
            <a:r>
              <a:rPr dirty="0" sz="3100" spc="-140">
                <a:latin typeface="Arial MT"/>
                <a:cs typeface="Arial MT"/>
              </a:rPr>
              <a:t> </a:t>
            </a:r>
            <a:r>
              <a:rPr dirty="0" sz="3100" spc="-110">
                <a:latin typeface="Arial MT"/>
                <a:cs typeface="Arial MT"/>
              </a:rPr>
              <a:t>mins)</a:t>
            </a:r>
            <a:r>
              <a:rPr dirty="0" sz="3100" spc="-40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for</a:t>
            </a:r>
            <a:r>
              <a:rPr dirty="0" sz="3100" spc="-50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tag</a:t>
            </a:r>
            <a:r>
              <a:rPr dirty="0" sz="3100" spc="-140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changes.</a:t>
            </a:r>
            <a:endParaRPr sz="3100">
              <a:latin typeface="Arial MT"/>
              <a:cs typeface="Arial MT"/>
            </a:endParaRPr>
          </a:p>
          <a:p>
            <a:pPr marL="753110">
              <a:lnSpc>
                <a:spcPts val="2900"/>
              </a:lnSpc>
            </a:pPr>
            <a:r>
              <a:rPr dirty="0" sz="3100" spc="-55">
                <a:latin typeface="Arial MT"/>
                <a:cs typeface="Arial MT"/>
              </a:rPr>
              <a:t>Zero</a:t>
            </a:r>
            <a:r>
              <a:rPr dirty="0" sz="3100" spc="-165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Latency:</a:t>
            </a:r>
            <a:r>
              <a:rPr dirty="0" sz="3100" spc="-215">
                <a:latin typeface="Arial MT"/>
                <a:cs typeface="Arial MT"/>
              </a:rPr>
              <a:t> </a:t>
            </a:r>
            <a:r>
              <a:rPr dirty="0" sz="3100" spc="-165">
                <a:latin typeface="Arial MT"/>
                <a:cs typeface="Arial MT"/>
              </a:rPr>
              <a:t>Because</a:t>
            </a:r>
            <a:r>
              <a:rPr dirty="0" sz="3100" spc="-50">
                <a:latin typeface="Arial MT"/>
                <a:cs typeface="Arial MT"/>
              </a:rPr>
              <a:t> </a:t>
            </a:r>
            <a:r>
              <a:rPr dirty="0" sz="3100" spc="-30">
                <a:latin typeface="Arial MT"/>
                <a:cs typeface="Arial MT"/>
              </a:rPr>
              <a:t>the</a:t>
            </a:r>
            <a:r>
              <a:rPr dirty="0" sz="3100" spc="-185">
                <a:latin typeface="Arial MT"/>
                <a:cs typeface="Arial MT"/>
              </a:rPr>
              <a:t> </a:t>
            </a:r>
            <a:r>
              <a:rPr dirty="0" sz="3100" spc="-85">
                <a:latin typeface="Arial MT"/>
                <a:cs typeface="Arial MT"/>
              </a:rPr>
              <a:t>service</a:t>
            </a:r>
            <a:r>
              <a:rPr dirty="0" sz="3100" spc="-130">
                <a:latin typeface="Arial MT"/>
                <a:cs typeface="Arial MT"/>
              </a:rPr>
              <a:t> </a:t>
            </a:r>
            <a:r>
              <a:rPr dirty="0" sz="3100" spc="-95">
                <a:latin typeface="Arial MT"/>
                <a:cs typeface="Arial MT"/>
              </a:rPr>
              <a:t>downloads</a:t>
            </a:r>
            <a:r>
              <a:rPr dirty="0" sz="3100" spc="40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the</a:t>
            </a:r>
            <a:r>
              <a:rPr dirty="0" sz="3100" spc="-175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model</a:t>
            </a:r>
            <a:endParaRPr sz="3100">
              <a:latin typeface="Arial MT"/>
              <a:cs typeface="Arial MT"/>
            </a:endParaRPr>
          </a:p>
          <a:p>
            <a:pPr marL="746760">
              <a:lnSpc>
                <a:spcPts val="3225"/>
              </a:lnSpc>
              <a:tabLst>
                <a:tab pos="3222625" algn="l"/>
              </a:tabLst>
            </a:pPr>
            <a:r>
              <a:rPr dirty="0" sz="3100">
                <a:latin typeface="Arial MT"/>
                <a:cs typeface="Arial MT"/>
              </a:rPr>
              <a:t>artifact</a:t>
            </a:r>
            <a:r>
              <a:rPr dirty="0" sz="3100" spc="-15">
                <a:latin typeface="Arial MT"/>
                <a:cs typeface="Arial MT"/>
              </a:rPr>
              <a:t> </a:t>
            </a:r>
            <a:r>
              <a:rPr dirty="0" sz="3100" spc="75">
                <a:latin typeface="Arial MT"/>
                <a:cs typeface="Arial MT"/>
              </a:rPr>
              <a:t>•6e/a</a:t>
            </a:r>
            <a:r>
              <a:rPr dirty="0" sz="3100">
                <a:latin typeface="Arial MT"/>
                <a:cs typeface="Arial MT"/>
              </a:rPr>
              <a:t>	</a:t>
            </a:r>
            <a:r>
              <a:rPr dirty="0" sz="3100" spc="95">
                <a:latin typeface="Arial MT"/>
                <a:cs typeface="Arial MT"/>
              </a:rPr>
              <a:t>e•</a:t>
            </a:r>
            <a:r>
              <a:rPr dirty="0" sz="3100" spc="-10">
                <a:latin typeface="Arial MT"/>
                <a:cs typeface="Arial MT"/>
              </a:rPr>
              <a:t> </a:t>
            </a:r>
            <a:r>
              <a:rPr dirty="0" sz="3100" spc="-30">
                <a:latin typeface="Arial MT"/>
                <a:cs typeface="Arial MT"/>
              </a:rPr>
              <a:t>switching</a:t>
            </a:r>
            <a:r>
              <a:rPr dirty="0" sz="3100" spc="20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traffic,</a:t>
            </a:r>
            <a:r>
              <a:rPr dirty="0" sz="3100" spc="-155">
                <a:latin typeface="Arial MT"/>
                <a:cs typeface="Arial MT"/>
              </a:rPr>
              <a:t> </a:t>
            </a:r>
            <a:r>
              <a:rPr dirty="0" sz="3100" spc="-80">
                <a:latin typeface="Arial MT"/>
                <a:cs typeface="Arial MT"/>
              </a:rPr>
              <a:t>user</a:t>
            </a:r>
            <a:r>
              <a:rPr dirty="0" sz="3100" spc="-15">
                <a:latin typeface="Arial MT"/>
                <a:cs typeface="Arial MT"/>
              </a:rPr>
              <a:t> </a:t>
            </a:r>
            <a:r>
              <a:rPr dirty="0" sz="3100" spc="-80">
                <a:latin typeface="Arial MT"/>
                <a:cs typeface="Arial MT"/>
              </a:rPr>
              <a:t>requests</a:t>
            </a:r>
            <a:r>
              <a:rPr dirty="0" sz="3100" spc="75">
                <a:latin typeface="Arial MT"/>
                <a:cs typeface="Arial MT"/>
              </a:rPr>
              <a:t> </a:t>
            </a:r>
            <a:r>
              <a:rPr dirty="0" sz="3100" spc="-10">
                <a:latin typeface="Arial MT"/>
                <a:cs typeface="Arial MT"/>
              </a:rPr>
              <a:t>never</a:t>
            </a:r>
            <a:endParaRPr sz="3100">
              <a:latin typeface="Arial MT"/>
              <a:cs typeface="Arial MT"/>
            </a:endParaRPr>
          </a:p>
          <a:p>
            <a:pPr marL="746760">
              <a:lnSpc>
                <a:spcPts val="3425"/>
              </a:lnSpc>
              <a:tabLst>
                <a:tab pos="5274945" algn="l"/>
              </a:tabLst>
            </a:pPr>
            <a:r>
              <a:rPr dirty="0" sz="3050" spc="-50">
                <a:latin typeface="Arial MT"/>
                <a:cs typeface="Arial MT"/>
              </a:rPr>
              <a:t>experience</a:t>
            </a:r>
            <a:r>
              <a:rPr dirty="0" sz="3050" spc="15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the</a:t>
            </a:r>
            <a:r>
              <a:rPr dirty="0" sz="3050" spc="95">
                <a:latin typeface="Arial MT"/>
                <a:cs typeface="Arial MT"/>
              </a:rPr>
              <a:t> </a:t>
            </a:r>
            <a:r>
              <a:rPr dirty="0" sz="3050" spc="-10">
                <a:latin typeface="Arial MT"/>
                <a:cs typeface="Arial MT"/>
              </a:rPr>
              <a:t>”tra1n1ng</a:t>
            </a:r>
            <a:r>
              <a:rPr dirty="0" sz="3050">
                <a:latin typeface="Arial MT"/>
                <a:cs typeface="Arial MT"/>
              </a:rPr>
              <a:t>	</a:t>
            </a:r>
            <a:r>
              <a:rPr dirty="0" sz="3050" spc="-35">
                <a:latin typeface="Arial MT"/>
                <a:cs typeface="Arial MT"/>
              </a:rPr>
              <a:t>t:tme”</a:t>
            </a:r>
            <a:r>
              <a:rPr dirty="0" sz="3050" spc="-105">
                <a:latin typeface="Arial MT"/>
                <a:cs typeface="Arial MT"/>
              </a:rPr>
              <a:t> </a:t>
            </a:r>
            <a:r>
              <a:rPr dirty="0" sz="3050" spc="-10">
                <a:latin typeface="Arial MT"/>
                <a:cs typeface="Arial MT"/>
              </a:rPr>
              <a:t>delay.</a:t>
            </a:r>
            <a:endParaRPr sz="3050">
              <a:latin typeface="Arial MT"/>
              <a:cs typeface="Arial MT"/>
            </a:endParaRPr>
          </a:p>
          <a:p>
            <a:pPr marL="12700" marR="5080" indent="6350">
              <a:lnSpc>
                <a:spcPts val="3250"/>
              </a:lnSpc>
              <a:spcBef>
                <a:spcPts val="3240"/>
              </a:spcBef>
            </a:pPr>
            <a:r>
              <a:rPr dirty="0" sz="2900">
                <a:latin typeface="Arial MT"/>
                <a:cs typeface="Arial MT"/>
              </a:rPr>
              <a:t>Outcome</a:t>
            </a:r>
            <a:r>
              <a:rPr dirty="0" sz="2900" spc="3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statement:</a:t>
            </a:r>
            <a:r>
              <a:rPr dirty="0" sz="2900" spc="-14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Decoupling</a:t>
            </a:r>
            <a:r>
              <a:rPr dirty="0" sz="2900" spc="10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achieved.</a:t>
            </a:r>
            <a:r>
              <a:rPr dirty="0" sz="2900" spc="25">
                <a:latin typeface="Arial MT"/>
                <a:cs typeface="Arial MT"/>
              </a:rPr>
              <a:t> </a:t>
            </a:r>
            <a:r>
              <a:rPr dirty="0" sz="2900" spc="-30">
                <a:latin typeface="Arial MT"/>
                <a:cs typeface="Arial MT"/>
              </a:rPr>
              <a:t>Training</a:t>
            </a:r>
            <a:r>
              <a:rPr dirty="0" sz="2900" spc="4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duration</a:t>
            </a:r>
            <a:r>
              <a:rPr dirty="0" sz="2900" spc="-114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is </a:t>
            </a:r>
            <a:r>
              <a:rPr dirty="0" sz="2900">
                <a:latin typeface="Arial MT"/>
                <a:cs typeface="Arial MT"/>
              </a:rPr>
              <a:t>irrelevant</a:t>
            </a:r>
            <a:r>
              <a:rPr dirty="0" sz="2900" spc="33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to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inference</a:t>
            </a:r>
            <a:r>
              <a:rPr dirty="0" sz="2900" spc="165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speed.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139700"/>
            <a:ext cx="17005300" cy="9283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1823" rIns="0" bIns="0" rtlCol="0" vert="horz">
            <a:spAutoFit/>
          </a:bodyPr>
          <a:lstStyle/>
          <a:p>
            <a:pPr marL="792480">
              <a:lnSpc>
                <a:spcPct val="100000"/>
              </a:lnSpc>
              <a:spcBef>
                <a:spcPts val="105"/>
              </a:spcBef>
            </a:pPr>
            <a:r>
              <a:rPr dirty="0" sz="6800" spc="-320">
                <a:solidFill>
                  <a:srgbClr val="5E5E5E"/>
                </a:solidFill>
              </a:rPr>
              <a:t>The</a:t>
            </a:r>
            <a:r>
              <a:rPr dirty="0" sz="6800" spc="-625">
                <a:solidFill>
                  <a:srgbClr val="5E5E5E"/>
                </a:solidFill>
              </a:rPr>
              <a:t> </a:t>
            </a:r>
            <a:r>
              <a:rPr dirty="0" sz="6800" spc="-165"/>
              <a:t>Unified</a:t>
            </a:r>
            <a:r>
              <a:rPr dirty="0" sz="6800" spc="-370"/>
              <a:t> </a:t>
            </a:r>
            <a:r>
              <a:rPr dirty="0" sz="6800" spc="-265">
                <a:solidFill>
                  <a:srgbClr val="505050"/>
                </a:solidFill>
              </a:rPr>
              <a:t>Operational</a:t>
            </a:r>
            <a:r>
              <a:rPr dirty="0" sz="6800" spc="-5">
                <a:solidFill>
                  <a:srgbClr val="505050"/>
                </a:solidFill>
              </a:rPr>
              <a:t> </a:t>
            </a:r>
            <a:r>
              <a:rPr dirty="0" sz="6800" spc="-95">
                <a:solidFill>
                  <a:srgbClr val="545454"/>
                </a:solidFill>
              </a:rPr>
              <a:t>Workflow</a:t>
            </a:r>
            <a:endParaRPr sz="6800"/>
          </a:p>
        </p:txBody>
      </p:sp>
      <p:sp>
        <p:nvSpPr>
          <p:cNvPr id="4" name="object 4" descr=""/>
          <p:cNvSpPr txBox="1"/>
          <p:nvPr/>
        </p:nvSpPr>
        <p:spPr>
          <a:xfrm>
            <a:off x="1645871" y="2987675"/>
            <a:ext cx="967740" cy="126047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algn="just" marL="13970" marR="5080" indent="-1905">
              <a:lnSpc>
                <a:spcPts val="3000"/>
              </a:lnSpc>
              <a:spcBef>
                <a:spcPts val="825"/>
              </a:spcBef>
            </a:pPr>
            <a:r>
              <a:rPr dirty="0" sz="3100" spc="-210">
                <a:latin typeface="Arial MT"/>
                <a:cs typeface="Arial MT"/>
              </a:rPr>
              <a:t>Single </a:t>
            </a:r>
            <a:r>
              <a:rPr dirty="0" sz="3050" spc="-195">
                <a:latin typeface="Arial MT"/>
                <a:cs typeface="Arial MT"/>
              </a:rPr>
              <a:t>Model </a:t>
            </a:r>
            <a:r>
              <a:rPr dirty="0" sz="2950" spc="-20">
                <a:latin typeface="Arial MT"/>
                <a:cs typeface="Arial MT"/>
              </a:rPr>
              <a:t>Flow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67731" y="5426075"/>
            <a:ext cx="1106805" cy="126238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algn="just" marL="80010" marR="5080" indent="-67945">
              <a:lnSpc>
                <a:spcPts val="3000"/>
              </a:lnSpc>
              <a:spcBef>
                <a:spcPts val="825"/>
              </a:spcBef>
            </a:pPr>
            <a:r>
              <a:rPr dirty="0" sz="3100" spc="-200">
                <a:latin typeface="Arial MT"/>
                <a:cs typeface="Arial MT"/>
              </a:rPr>
              <a:t>Cluster </a:t>
            </a:r>
            <a:r>
              <a:rPr dirty="0" sz="2950" spc="-25">
                <a:latin typeface="Arial MT"/>
                <a:cs typeface="Arial MT"/>
              </a:rPr>
              <a:t>Model </a:t>
            </a:r>
            <a:r>
              <a:rPr dirty="0" sz="3050" spc="-20">
                <a:latin typeface="Arial MT"/>
                <a:cs typeface="Arial MT"/>
              </a:rPr>
              <a:t>Flow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664480" y="7781572"/>
            <a:ext cx="6440170" cy="12109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 marL="12700" marR="5080" indent="28575">
              <a:lnSpc>
                <a:spcPts val="3000"/>
              </a:lnSpc>
              <a:spcBef>
                <a:spcPts val="475"/>
              </a:spcBef>
              <a:tabLst>
                <a:tab pos="1699260" algn="l"/>
                <a:tab pos="2578100" algn="l"/>
              </a:tabLst>
            </a:pPr>
            <a:r>
              <a:rPr dirty="0" sz="2750" spc="-20">
                <a:latin typeface="Arial MT"/>
                <a:cs typeface="Arial MT"/>
              </a:rPr>
              <a:t>While</a:t>
            </a:r>
            <a:r>
              <a:rPr dirty="0" sz="2750" spc="35">
                <a:latin typeface="Arial MT"/>
                <a:cs typeface="Arial MT"/>
              </a:rPr>
              <a:t> </a:t>
            </a:r>
            <a:r>
              <a:rPr dirty="0" sz="2750" spc="60">
                <a:latin typeface="Arial MT"/>
                <a:cs typeface="Arial MT"/>
              </a:rPr>
              <a:t>the</a:t>
            </a:r>
            <a:r>
              <a:rPr dirty="0" sz="2750" spc="-7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internal</a:t>
            </a:r>
            <a:r>
              <a:rPr dirty="0" sz="2750" spc="5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complexity</a:t>
            </a:r>
            <a:r>
              <a:rPr dirty="0" sz="2750" spc="29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differs,</a:t>
            </a:r>
            <a:r>
              <a:rPr dirty="0" sz="2750" spc="45">
                <a:latin typeface="Arial MT"/>
                <a:cs typeface="Arial MT"/>
              </a:rPr>
              <a:t> </a:t>
            </a:r>
            <a:r>
              <a:rPr dirty="0" sz="2750" spc="30">
                <a:latin typeface="Arial MT"/>
                <a:cs typeface="Arial MT"/>
              </a:rPr>
              <a:t>the </a:t>
            </a:r>
            <a:r>
              <a:rPr dirty="0" sz="2750">
                <a:latin typeface="Arial MT"/>
                <a:cs typeface="Arial MT"/>
              </a:rPr>
              <a:t>external</a:t>
            </a:r>
            <a:r>
              <a:rPr dirty="0" sz="2750" spc="7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interface</a:t>
            </a:r>
            <a:r>
              <a:rPr dirty="0" sz="2750" spc="114">
                <a:latin typeface="Arial MT"/>
                <a:cs typeface="Arial MT"/>
              </a:rPr>
              <a:t> </a:t>
            </a:r>
            <a:r>
              <a:rPr dirty="0" sz="2750" spc="110">
                <a:latin typeface="Arial MT"/>
                <a:cs typeface="Arial MT"/>
              </a:rPr>
              <a:t>to</a:t>
            </a:r>
            <a:r>
              <a:rPr dirty="0" sz="2750" spc="-85">
                <a:latin typeface="Arial MT"/>
                <a:cs typeface="Arial MT"/>
              </a:rPr>
              <a:t> </a:t>
            </a:r>
            <a:r>
              <a:rPr dirty="0" sz="2750" spc="60">
                <a:latin typeface="Arial MT"/>
                <a:cs typeface="Arial MT"/>
              </a:rPr>
              <a:t>the</a:t>
            </a:r>
            <a:r>
              <a:rPr dirty="0" sz="2750" spc="-4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Registry</a:t>
            </a:r>
            <a:r>
              <a:rPr dirty="0" sz="2750" spc="100">
                <a:latin typeface="Arial MT"/>
                <a:cs typeface="Arial MT"/>
              </a:rPr>
              <a:t> </a:t>
            </a:r>
            <a:r>
              <a:rPr dirty="0" sz="2750" spc="-25">
                <a:latin typeface="Arial MT"/>
                <a:cs typeface="Arial MT"/>
              </a:rPr>
              <a:t>remains </a:t>
            </a:r>
            <a:r>
              <a:rPr dirty="0" sz="2750" spc="-10">
                <a:latin typeface="Arial MT"/>
                <a:cs typeface="Arial MT"/>
              </a:rPr>
              <a:t>identical:</a:t>
            </a:r>
            <a:r>
              <a:rPr dirty="0" sz="2750">
                <a:latin typeface="Arial MT"/>
                <a:cs typeface="Arial MT"/>
              </a:rPr>
              <a:t>	</a:t>
            </a:r>
            <a:r>
              <a:rPr dirty="0" sz="2750" spc="-20">
                <a:latin typeface="Arial MT"/>
                <a:cs typeface="Arial MT"/>
              </a:rPr>
              <a:t>Load</a:t>
            </a:r>
            <a:r>
              <a:rPr dirty="0" sz="2750">
                <a:latin typeface="Arial MT"/>
                <a:cs typeface="Arial MT"/>
              </a:rPr>
              <a:t>	</a:t>
            </a:r>
            <a:r>
              <a:rPr dirty="0" sz="2750" spc="35">
                <a:latin typeface="Arial MT"/>
                <a:cs typeface="Arial MT"/>
              </a:rPr>
              <a:t>pproduct1on”.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2068" y="8162572"/>
            <a:ext cx="14795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50">
                <a:solidFill>
                  <a:srgbClr val="707070"/>
                </a:solidFill>
                <a:latin typeface="Arial MT"/>
                <a:cs typeface="Arial MT"/>
              </a:rPr>
              <a:t>”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937462" y="9512300"/>
            <a:ext cx="41592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29">
                <a:solidFill>
                  <a:srgbClr val="595959"/>
                </a:solidFill>
                <a:latin typeface="Arial MT"/>
                <a:cs typeface="Arial MT"/>
              </a:rPr>
              <a:t>SCAŁE</a:t>
            </a:r>
            <a:r>
              <a:rPr dirty="0" sz="1250" spc="-229">
                <a:solidFill>
                  <a:srgbClr val="939393"/>
                </a:solidFill>
                <a:latin typeface="Arial MT"/>
                <a:cs typeface="Arial MT"/>
              </a:rPr>
              <a:t>: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513306" y="9512300"/>
            <a:ext cx="26987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90">
                <a:solidFill>
                  <a:srgbClr val="484848"/>
                </a:solidFill>
                <a:latin typeface="Arial MT"/>
                <a:cs typeface="Arial MT"/>
              </a:rPr>
              <a:t>tfTS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922957" y="9512300"/>
            <a:ext cx="105410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85">
                <a:solidFill>
                  <a:srgbClr val="464646"/>
                </a:solidFill>
                <a:latin typeface="Arial MT"/>
                <a:cs typeface="Arial MT"/>
              </a:rPr>
              <a:t>DATE;</a:t>
            </a:r>
            <a:r>
              <a:rPr dirty="0" sz="1250" spc="18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1250" spc="-195">
                <a:solidFill>
                  <a:srgbClr val="4D4D4D"/>
                </a:solidFill>
                <a:latin typeface="Arial MT"/>
                <a:cs typeface="Arial MT"/>
              </a:rPr>
              <a:t>OCT</a:t>
            </a:r>
            <a:r>
              <a:rPr dirty="0" sz="1250" spc="10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1250" spc="-100">
                <a:solidFill>
                  <a:srgbClr val="313131"/>
                </a:solidFill>
                <a:latin typeface="Arial MT"/>
                <a:cs typeface="Arial MT"/>
              </a:rPr>
              <a:t>28+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4523" rIns="0" bIns="0" rtlCol="0" vert="horz">
            <a:spAutoFit/>
          </a:bodyPr>
          <a:lstStyle/>
          <a:p>
            <a:pPr marL="760730">
              <a:lnSpc>
                <a:spcPct val="100000"/>
              </a:lnSpc>
              <a:spcBef>
                <a:spcPts val="105"/>
              </a:spcBef>
            </a:pPr>
            <a:r>
              <a:rPr dirty="0" sz="6800" spc="-260"/>
              <a:t>Safety</a:t>
            </a:r>
            <a:r>
              <a:rPr dirty="0" sz="6800" spc="-330"/>
              <a:t> </a:t>
            </a:r>
            <a:r>
              <a:rPr dirty="0" sz="6800" spc="-345"/>
              <a:t>Mechanisms</a:t>
            </a:r>
            <a:r>
              <a:rPr dirty="0" sz="6800" spc="170"/>
              <a:t> </a:t>
            </a:r>
            <a:r>
              <a:rPr dirty="0" sz="6800" spc="-640">
                <a:solidFill>
                  <a:srgbClr val="5E5E5E"/>
                </a:solidFill>
              </a:rPr>
              <a:t>&amp;</a:t>
            </a:r>
            <a:r>
              <a:rPr dirty="0" sz="6800" spc="-730">
                <a:solidFill>
                  <a:srgbClr val="5E5E5E"/>
                </a:solidFill>
              </a:rPr>
              <a:t> </a:t>
            </a:r>
            <a:r>
              <a:rPr dirty="0" sz="6800" spc="-360">
                <a:solidFill>
                  <a:srgbClr val="525252"/>
                </a:solidFill>
              </a:rPr>
              <a:t>Rollback</a:t>
            </a:r>
            <a:r>
              <a:rPr dirty="0" sz="6800" spc="-140">
                <a:solidFill>
                  <a:srgbClr val="525252"/>
                </a:solidFill>
              </a:rPr>
              <a:t> </a:t>
            </a:r>
            <a:r>
              <a:rPr dirty="0" sz="6800" spc="-185">
                <a:solidFill>
                  <a:srgbClr val="575757"/>
                </a:solidFill>
              </a:rPr>
              <a:t>Strategy</a:t>
            </a:r>
            <a:endParaRPr sz="6800"/>
          </a:p>
        </p:txBody>
      </p:sp>
      <p:sp>
        <p:nvSpPr>
          <p:cNvPr id="3" name="object 3" descr=""/>
          <p:cNvSpPr txBox="1"/>
          <p:nvPr/>
        </p:nvSpPr>
        <p:spPr>
          <a:xfrm>
            <a:off x="2023732" y="2315280"/>
            <a:ext cx="4565650" cy="17875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03325">
              <a:lnSpc>
                <a:spcPct val="100000"/>
              </a:lnSpc>
              <a:spcBef>
                <a:spcPts val="120"/>
              </a:spcBef>
            </a:pPr>
            <a:r>
              <a:rPr dirty="0" sz="3800" spc="-140">
                <a:latin typeface="Arial MT"/>
                <a:cs typeface="Arial MT"/>
              </a:rPr>
              <a:t>Training</a:t>
            </a:r>
            <a:r>
              <a:rPr dirty="0" sz="3800" spc="-65">
                <a:latin typeface="Arial MT"/>
                <a:cs typeface="Arial MT"/>
              </a:rPr>
              <a:t> </a:t>
            </a:r>
            <a:r>
              <a:rPr dirty="0" sz="3800" spc="-135">
                <a:latin typeface="Arial MT"/>
                <a:cs typeface="Arial MT"/>
              </a:rPr>
              <a:t>Timeout</a:t>
            </a:r>
            <a:endParaRPr sz="3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3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50">
                <a:latin typeface="Arial MT"/>
                <a:cs typeface="Arial MT"/>
              </a:rPr>
              <a:t>Training</a:t>
            </a:r>
            <a:r>
              <a:rPr dirty="0" sz="2750" spc="-8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Pipeline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49753" y="6011333"/>
            <a:ext cx="2753995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45">
                <a:latin typeface="Arial MT"/>
                <a:cs typeface="Arial MT"/>
              </a:rPr>
              <a:t>Inference</a:t>
            </a:r>
            <a:r>
              <a:rPr dirty="0" sz="2900" spc="-155">
                <a:latin typeface="Arial MT"/>
                <a:cs typeface="Arial MT"/>
              </a:rPr>
              <a:t> </a:t>
            </a:r>
            <a:r>
              <a:rPr dirty="0" sz="2900" spc="-75">
                <a:latin typeface="Arial MT"/>
                <a:cs typeface="Arial MT"/>
              </a:rPr>
              <a:t>Service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01060" y="7374114"/>
            <a:ext cx="5685155" cy="162687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algn="ctr" marL="12700" marR="5080" indent="-5715">
              <a:lnSpc>
                <a:spcPts val="3000"/>
              </a:lnSpc>
              <a:spcBef>
                <a:spcPts val="685"/>
              </a:spcBef>
            </a:pPr>
            <a:r>
              <a:rPr dirty="0" sz="2950">
                <a:latin typeface="Arial MT"/>
                <a:cs typeface="Arial MT"/>
              </a:rPr>
              <a:t>If</a:t>
            </a:r>
            <a:r>
              <a:rPr dirty="0" sz="2950" spc="-95">
                <a:latin typeface="Arial MT"/>
                <a:cs typeface="Arial MT"/>
              </a:rPr>
              <a:t> </a:t>
            </a:r>
            <a:r>
              <a:rPr dirty="0" sz="2950" spc="-25">
                <a:latin typeface="Arial MT"/>
                <a:cs typeface="Arial MT"/>
              </a:rPr>
              <a:t>long-</a:t>
            </a:r>
            <a:r>
              <a:rPr dirty="0" sz="2950">
                <a:latin typeface="Arial MT"/>
                <a:cs typeface="Arial MT"/>
              </a:rPr>
              <a:t>running</a:t>
            </a:r>
            <a:r>
              <a:rPr dirty="0" sz="2950" spc="11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training</a:t>
            </a:r>
            <a:r>
              <a:rPr dirty="0" sz="2950" spc="-80">
                <a:latin typeface="Arial MT"/>
                <a:cs typeface="Arial MT"/>
              </a:rPr>
              <a:t> </a:t>
            </a:r>
            <a:r>
              <a:rPr dirty="0" sz="2950" spc="-35">
                <a:latin typeface="Arial MT"/>
                <a:cs typeface="Arial MT"/>
              </a:rPr>
              <a:t>hangs,</a:t>
            </a:r>
            <a:r>
              <a:rPr dirty="0" sz="2950" spc="-20">
                <a:latin typeface="Arial MT"/>
                <a:cs typeface="Arial MT"/>
              </a:rPr>
              <a:t> </a:t>
            </a:r>
            <a:r>
              <a:rPr dirty="0" sz="2950" spc="-25">
                <a:latin typeface="Arial MT"/>
                <a:cs typeface="Arial MT"/>
              </a:rPr>
              <a:t>the </a:t>
            </a:r>
            <a:r>
              <a:rPr dirty="0" sz="2900">
                <a:latin typeface="Arial MT"/>
                <a:cs typeface="Arial MT"/>
              </a:rPr>
              <a:t>Scoring</a:t>
            </a:r>
            <a:r>
              <a:rPr dirty="0" sz="2900" spc="4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service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remains</a:t>
            </a:r>
            <a:r>
              <a:rPr dirty="0" sz="2900" spc="3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on</a:t>
            </a:r>
            <a:r>
              <a:rPr dirty="0" sz="2900" spc="-13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the</a:t>
            </a:r>
            <a:r>
              <a:rPr dirty="0" sz="2900" spc="-110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old </a:t>
            </a:r>
            <a:r>
              <a:rPr dirty="0" sz="2950" spc="-25">
                <a:latin typeface="Arial MT"/>
                <a:cs typeface="Arial MT"/>
              </a:rPr>
              <a:t>version</a:t>
            </a:r>
            <a:r>
              <a:rPr dirty="0" sz="2950" spc="-160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indefinitely.</a:t>
            </a:r>
            <a:endParaRPr sz="2950">
              <a:latin typeface="Arial MT"/>
              <a:cs typeface="Arial MT"/>
            </a:endParaRPr>
          </a:p>
          <a:p>
            <a:pPr algn="ctr" marR="11430">
              <a:lnSpc>
                <a:spcPts val="3020"/>
              </a:lnSpc>
            </a:pPr>
            <a:r>
              <a:rPr dirty="0" sz="2850">
                <a:latin typeface="Arial MT"/>
                <a:cs typeface="Arial MT"/>
              </a:rPr>
              <a:t>Service</a:t>
            </a:r>
            <a:r>
              <a:rPr dirty="0" sz="2850" spc="13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continuity</a:t>
            </a:r>
            <a:r>
              <a:rPr dirty="0" sz="2850" spc="34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is</a:t>
            </a:r>
            <a:r>
              <a:rPr dirty="0" sz="2850" spc="145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preserved.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4281" y="8541102"/>
            <a:ext cx="124460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-50">
                <a:solidFill>
                  <a:srgbClr val="606060"/>
                </a:solidFill>
                <a:latin typeface="Arial MT"/>
                <a:cs typeface="Arial MT"/>
              </a:rPr>
              <a:t>,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879938" y="2271183"/>
            <a:ext cx="5420995" cy="660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150" spc="-450">
                <a:latin typeface="Arial MT"/>
                <a:cs typeface="Arial MT"/>
              </a:rPr>
              <a:t>Bad</a:t>
            </a:r>
            <a:r>
              <a:rPr dirty="0" sz="4150" spc="-140">
                <a:latin typeface="Arial MT"/>
                <a:cs typeface="Arial MT"/>
              </a:rPr>
              <a:t> </a:t>
            </a:r>
            <a:r>
              <a:rPr dirty="0" sz="4150" spc="-360">
                <a:latin typeface="Arial MT"/>
                <a:cs typeface="Arial MT"/>
              </a:rPr>
              <a:t>Deployment</a:t>
            </a:r>
            <a:r>
              <a:rPr dirty="0" sz="4150" spc="434">
                <a:latin typeface="Arial MT"/>
                <a:cs typeface="Arial MT"/>
              </a:rPr>
              <a:t> </a:t>
            </a:r>
            <a:r>
              <a:rPr dirty="0" sz="4150">
                <a:latin typeface="Arial MT"/>
                <a:cs typeface="Arial MT"/>
              </a:rPr>
              <a:t>/</a:t>
            </a:r>
            <a:r>
              <a:rPr dirty="0" sz="4150" spc="-254">
                <a:latin typeface="Arial MT"/>
                <a:cs typeface="Arial MT"/>
              </a:rPr>
              <a:t> </a:t>
            </a:r>
            <a:r>
              <a:rPr dirty="0" sz="4150" spc="-370">
                <a:latin typeface="Arial MT"/>
                <a:cs typeface="Arial MT"/>
              </a:rPr>
              <a:t>Rollback</a:t>
            </a:r>
            <a:endParaRPr sz="41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240328" y="4641497"/>
            <a:ext cx="1017269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70">
                <a:latin typeface="Arial MT"/>
                <a:cs typeface="Arial MT"/>
              </a:rPr>
              <a:t>Undo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732011" y="7755114"/>
            <a:ext cx="6015355" cy="124904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algn="ctr" marL="12700" marR="5080">
              <a:lnSpc>
                <a:spcPct val="85500"/>
              </a:lnSpc>
              <a:spcBef>
                <a:spcPts val="650"/>
              </a:spcBef>
            </a:pPr>
            <a:r>
              <a:rPr dirty="0" sz="2950" spc="-45">
                <a:latin typeface="Arial MT"/>
                <a:cs typeface="Arial MT"/>
              </a:rPr>
              <a:t>The</a:t>
            </a:r>
            <a:r>
              <a:rPr dirty="0" sz="2950" spc="-145">
                <a:latin typeface="Arial MT"/>
                <a:cs typeface="Arial MT"/>
              </a:rPr>
              <a:t> </a:t>
            </a:r>
            <a:r>
              <a:rPr dirty="0" sz="2950" spc="-25">
                <a:latin typeface="Arial MT"/>
                <a:cs typeface="Arial MT"/>
              </a:rPr>
              <a:t>Registry</a:t>
            </a:r>
            <a:r>
              <a:rPr dirty="0" sz="2950" spc="8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acts</a:t>
            </a:r>
            <a:r>
              <a:rPr dirty="0" sz="2950" spc="-120">
                <a:latin typeface="Arial MT"/>
                <a:cs typeface="Arial MT"/>
              </a:rPr>
              <a:t> </a:t>
            </a:r>
            <a:r>
              <a:rPr dirty="0" sz="2950" spc="-35">
                <a:latin typeface="Arial MT"/>
                <a:cs typeface="Arial MT"/>
              </a:rPr>
              <a:t>as</a:t>
            </a:r>
            <a:r>
              <a:rPr dirty="0" sz="2950" spc="-14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a</a:t>
            </a:r>
            <a:r>
              <a:rPr dirty="0" sz="2950" spc="-125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time</a:t>
            </a:r>
            <a:r>
              <a:rPr dirty="0" sz="2950" spc="-114">
                <a:latin typeface="Arial MT"/>
                <a:cs typeface="Arial MT"/>
              </a:rPr>
              <a:t> </a:t>
            </a:r>
            <a:r>
              <a:rPr dirty="0" sz="2950" spc="-65">
                <a:latin typeface="Arial MT"/>
                <a:cs typeface="Arial MT"/>
              </a:rPr>
              <a:t>machine, </a:t>
            </a:r>
            <a:r>
              <a:rPr dirty="0" sz="2950" spc="-10">
                <a:latin typeface="Arial MT"/>
                <a:cs typeface="Arial MT"/>
              </a:rPr>
              <a:t>allowing</a:t>
            </a:r>
            <a:r>
              <a:rPr dirty="0" sz="2950" spc="1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instant</a:t>
            </a:r>
            <a:r>
              <a:rPr dirty="0" sz="2950" spc="45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reversion</a:t>
            </a:r>
            <a:r>
              <a:rPr dirty="0" sz="2950" spc="5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to</a:t>
            </a:r>
            <a:r>
              <a:rPr dirty="0" sz="2950" spc="-14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the</a:t>
            </a:r>
            <a:r>
              <a:rPr dirty="0" sz="2950" spc="-150">
                <a:latin typeface="Arial MT"/>
                <a:cs typeface="Arial MT"/>
              </a:rPr>
              <a:t> </a:t>
            </a:r>
            <a:r>
              <a:rPr dirty="0" sz="2950" spc="-20">
                <a:latin typeface="Arial MT"/>
                <a:cs typeface="Arial MT"/>
              </a:rPr>
              <a:t>last </a:t>
            </a:r>
            <a:r>
              <a:rPr dirty="0" sz="2950">
                <a:latin typeface="Arial MT"/>
                <a:cs typeface="Arial MT"/>
              </a:rPr>
              <a:t>known</a:t>
            </a:r>
            <a:r>
              <a:rPr dirty="0" sz="2950" spc="5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good</a:t>
            </a:r>
            <a:r>
              <a:rPr dirty="0" sz="2950" spc="-95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state.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0900" y="9131300"/>
            <a:ext cx="4140200" cy="6223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687916" y="325967"/>
            <a:ext cx="0" cy="9084945"/>
          </a:xfrm>
          <a:custGeom>
            <a:avLst/>
            <a:gdLst/>
            <a:ahLst/>
            <a:cxnLst/>
            <a:rect l="l" t="t" r="r" b="b"/>
            <a:pathLst>
              <a:path w="0" h="9084945">
                <a:moveTo>
                  <a:pt x="0" y="9084733"/>
                </a:moveTo>
                <a:lnTo>
                  <a:pt x="0" y="0"/>
                </a:lnTo>
              </a:path>
            </a:pathLst>
          </a:custGeom>
          <a:ln w="4233">
            <a:solidFill>
              <a:srgbClr val="67707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6601016" y="325967"/>
            <a:ext cx="0" cy="9059545"/>
          </a:xfrm>
          <a:custGeom>
            <a:avLst/>
            <a:gdLst/>
            <a:ahLst/>
            <a:cxnLst/>
            <a:rect l="l" t="t" r="r" b="b"/>
            <a:pathLst>
              <a:path w="0" h="9059545">
                <a:moveTo>
                  <a:pt x="0" y="9059333"/>
                </a:moveTo>
                <a:lnTo>
                  <a:pt x="0" y="0"/>
                </a:lnTo>
              </a:path>
            </a:pathLst>
          </a:custGeom>
          <a:ln w="4233">
            <a:solidFill>
              <a:srgbClr val="67707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121716" y="1583267"/>
            <a:ext cx="0" cy="7802245"/>
          </a:xfrm>
          <a:custGeom>
            <a:avLst/>
            <a:gdLst/>
            <a:ahLst/>
            <a:cxnLst/>
            <a:rect l="l" t="t" r="r" b="b"/>
            <a:pathLst>
              <a:path w="0" h="7802245">
                <a:moveTo>
                  <a:pt x="0" y="7802033"/>
                </a:moveTo>
                <a:lnTo>
                  <a:pt x="0" y="0"/>
                </a:lnTo>
              </a:path>
            </a:pathLst>
          </a:custGeom>
          <a:ln w="4233">
            <a:solidFill>
              <a:srgbClr val="67707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685800" y="325967"/>
            <a:ext cx="16438244" cy="1122045"/>
            <a:chOff x="685800" y="325967"/>
            <a:chExt cx="16438244" cy="1122045"/>
          </a:xfrm>
        </p:grpSpPr>
        <p:sp>
          <p:nvSpPr>
            <p:cNvPr id="7" name="object 7" descr=""/>
            <p:cNvSpPr/>
            <p:nvPr/>
          </p:nvSpPr>
          <p:spPr>
            <a:xfrm>
              <a:off x="17121716" y="325967"/>
              <a:ext cx="0" cy="1122045"/>
            </a:xfrm>
            <a:custGeom>
              <a:avLst/>
              <a:gdLst/>
              <a:ahLst/>
              <a:cxnLst/>
              <a:rect l="l" t="t" r="r" b="b"/>
              <a:pathLst>
                <a:path w="0" h="1122045">
                  <a:moveTo>
                    <a:pt x="0" y="11218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67707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85800" y="353483"/>
              <a:ext cx="16438244" cy="0"/>
            </a:xfrm>
            <a:custGeom>
              <a:avLst/>
              <a:gdLst/>
              <a:ahLst/>
              <a:cxnLst/>
              <a:rect l="l" t="t" r="r" b="b"/>
              <a:pathLst>
                <a:path w="16438244" h="0">
                  <a:moveTo>
                    <a:pt x="0" y="0"/>
                  </a:moveTo>
                  <a:lnTo>
                    <a:pt x="16438034" y="0"/>
                  </a:lnTo>
                </a:path>
              </a:pathLst>
            </a:custGeom>
            <a:ln w="4233">
              <a:solidFill>
                <a:srgbClr val="67707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914400" y="9408583"/>
            <a:ext cx="423545" cy="0"/>
          </a:xfrm>
          <a:custGeom>
            <a:avLst/>
            <a:gdLst/>
            <a:ahLst/>
            <a:cxnLst/>
            <a:rect l="l" t="t" r="r" b="b"/>
            <a:pathLst>
              <a:path w="423544" h="0">
                <a:moveTo>
                  <a:pt x="0" y="0"/>
                </a:moveTo>
                <a:lnTo>
                  <a:pt x="423333" y="0"/>
                </a:lnTo>
              </a:path>
            </a:pathLst>
          </a:custGeom>
          <a:ln w="296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612900" y="9408583"/>
            <a:ext cx="525145" cy="0"/>
          </a:xfrm>
          <a:custGeom>
            <a:avLst/>
            <a:gdLst/>
            <a:ahLst/>
            <a:cxnLst/>
            <a:rect l="l" t="t" r="r" b="b"/>
            <a:pathLst>
              <a:path w="525144" h="0">
                <a:moveTo>
                  <a:pt x="0" y="0"/>
                </a:moveTo>
                <a:lnTo>
                  <a:pt x="524933" y="0"/>
                </a:lnTo>
              </a:path>
            </a:pathLst>
          </a:custGeom>
          <a:ln w="4233">
            <a:solidFill>
              <a:srgbClr val="777C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362200" y="9408583"/>
            <a:ext cx="525145" cy="0"/>
          </a:xfrm>
          <a:custGeom>
            <a:avLst/>
            <a:gdLst/>
            <a:ahLst/>
            <a:cxnLst/>
            <a:rect l="l" t="t" r="r" b="b"/>
            <a:pathLst>
              <a:path w="525144" h="0">
                <a:moveTo>
                  <a:pt x="0" y="0"/>
                </a:moveTo>
                <a:lnTo>
                  <a:pt x="524933" y="0"/>
                </a:lnTo>
              </a:path>
            </a:pathLst>
          </a:custGeom>
          <a:ln w="4233">
            <a:solidFill>
              <a:srgbClr val="6B707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9550400" y="9406466"/>
            <a:ext cx="944244" cy="4445"/>
            <a:chOff x="9550400" y="9406466"/>
            <a:chExt cx="944244" cy="4445"/>
          </a:xfrm>
        </p:grpSpPr>
        <p:sp>
          <p:nvSpPr>
            <p:cNvPr id="13" name="object 13" descr=""/>
            <p:cNvSpPr/>
            <p:nvPr/>
          </p:nvSpPr>
          <p:spPr>
            <a:xfrm>
              <a:off x="9550400" y="9408583"/>
              <a:ext cx="487045" cy="0"/>
            </a:xfrm>
            <a:custGeom>
              <a:avLst/>
              <a:gdLst/>
              <a:ahLst/>
              <a:cxnLst/>
              <a:rect l="l" t="t" r="r" b="b"/>
              <a:pathLst>
                <a:path w="487045" h="0">
                  <a:moveTo>
                    <a:pt x="0" y="0"/>
                  </a:moveTo>
                  <a:lnTo>
                    <a:pt x="486833" y="0"/>
                  </a:lnTo>
                </a:path>
              </a:pathLst>
            </a:custGeom>
            <a:ln w="4233">
              <a:solidFill>
                <a:srgbClr val="7477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0058400" y="9408583"/>
              <a:ext cx="436245" cy="0"/>
            </a:xfrm>
            <a:custGeom>
              <a:avLst/>
              <a:gdLst/>
              <a:ahLst/>
              <a:cxnLst/>
              <a:rect l="l" t="t" r="r" b="b"/>
              <a:pathLst>
                <a:path w="436245" h="0">
                  <a:moveTo>
                    <a:pt x="0" y="0"/>
                  </a:moveTo>
                  <a:lnTo>
                    <a:pt x="436033" y="0"/>
                  </a:lnTo>
                </a:path>
              </a:pathLst>
            </a:custGeom>
            <a:ln w="4233">
              <a:solidFill>
                <a:srgbClr val="7477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11214100" y="9406466"/>
            <a:ext cx="3192145" cy="4445"/>
            <a:chOff x="11214100" y="9406466"/>
            <a:chExt cx="3192145" cy="4445"/>
          </a:xfrm>
        </p:grpSpPr>
        <p:sp>
          <p:nvSpPr>
            <p:cNvPr id="16" name="object 16" descr=""/>
            <p:cNvSpPr/>
            <p:nvPr/>
          </p:nvSpPr>
          <p:spPr>
            <a:xfrm>
              <a:off x="11214100" y="9408583"/>
              <a:ext cx="2531745" cy="0"/>
            </a:xfrm>
            <a:custGeom>
              <a:avLst/>
              <a:gdLst/>
              <a:ahLst/>
              <a:cxnLst/>
              <a:rect l="l" t="t" r="r" b="b"/>
              <a:pathLst>
                <a:path w="2531744" h="0">
                  <a:moveTo>
                    <a:pt x="0" y="0"/>
                  </a:moveTo>
                  <a:lnTo>
                    <a:pt x="2531533" y="0"/>
                  </a:lnTo>
                </a:path>
              </a:pathLst>
            </a:custGeom>
            <a:ln w="4233">
              <a:solidFill>
                <a:srgbClr val="7477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3766800" y="9408583"/>
              <a:ext cx="639445" cy="0"/>
            </a:xfrm>
            <a:custGeom>
              <a:avLst/>
              <a:gdLst/>
              <a:ahLst/>
              <a:cxnLst/>
              <a:rect l="l" t="t" r="r" b="b"/>
              <a:pathLst>
                <a:path w="639444" h="0">
                  <a:moveTo>
                    <a:pt x="0" y="0"/>
                  </a:moveTo>
                  <a:lnTo>
                    <a:pt x="639233" y="0"/>
                  </a:lnTo>
                </a:path>
              </a:pathLst>
            </a:custGeom>
            <a:ln w="4233">
              <a:solidFill>
                <a:srgbClr val="7477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/>
          <p:nvPr/>
        </p:nvSpPr>
        <p:spPr>
          <a:xfrm>
            <a:off x="15519400" y="9408583"/>
            <a:ext cx="512445" cy="0"/>
          </a:xfrm>
          <a:custGeom>
            <a:avLst/>
            <a:gdLst/>
            <a:ahLst/>
            <a:cxnLst/>
            <a:rect l="l" t="t" r="r" b="b"/>
            <a:pathLst>
              <a:path w="512444" h="0">
                <a:moveTo>
                  <a:pt x="0" y="0"/>
                </a:moveTo>
                <a:lnTo>
                  <a:pt x="512233" y="0"/>
                </a:lnTo>
              </a:path>
            </a:pathLst>
          </a:custGeom>
          <a:ln w="4233">
            <a:solidFill>
              <a:srgbClr val="7477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5240000" y="9408583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4" h="0">
                <a:moveTo>
                  <a:pt x="0" y="0"/>
                </a:moveTo>
                <a:lnTo>
                  <a:pt x="232833" y="0"/>
                </a:lnTo>
              </a:path>
            </a:pathLst>
          </a:custGeom>
          <a:ln w="4233">
            <a:solidFill>
              <a:srgbClr val="74777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3100" y="139700"/>
            <a:ext cx="12700" cy="19050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4000" y="139700"/>
            <a:ext cx="12700" cy="19050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58500" y="139700"/>
            <a:ext cx="12700" cy="190500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79400" y="139700"/>
            <a:ext cx="12700" cy="190500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100300" y="139700"/>
            <a:ext cx="25400" cy="190500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7000" y="9156700"/>
            <a:ext cx="17208500" cy="596900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724900" y="139700"/>
            <a:ext cx="25400" cy="215900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1265716" y="55386"/>
            <a:ext cx="56515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155">
                <a:solidFill>
                  <a:srgbClr val="858585"/>
                </a:solidFill>
                <a:latin typeface="Arial MT"/>
                <a:cs typeface="Arial MT"/>
              </a:rPr>
              <a:t>i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312945" y="55386"/>
            <a:ext cx="99060" cy="332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50">
                <a:solidFill>
                  <a:srgbClr val="777777"/>
                </a:solidFill>
                <a:latin typeface="Arial MT"/>
                <a:cs typeface="Arial MT"/>
              </a:rPr>
              <a:t>I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6141" rIns="0" bIns="0" rtlCol="0" vert="horz">
            <a:spAutoFit/>
          </a:bodyPr>
          <a:lstStyle/>
          <a:p>
            <a:pPr marL="767715">
              <a:lnSpc>
                <a:spcPct val="100000"/>
              </a:lnSpc>
              <a:spcBef>
                <a:spcPts val="100"/>
              </a:spcBef>
            </a:pPr>
            <a:r>
              <a:rPr dirty="0" sz="7150" spc="-540">
                <a:solidFill>
                  <a:srgbClr val="575757"/>
                </a:solidFill>
              </a:rPr>
              <a:t>Proposed</a:t>
            </a:r>
            <a:r>
              <a:rPr dirty="0" sz="7150" spc="-120">
                <a:solidFill>
                  <a:srgbClr val="575757"/>
                </a:solidFill>
              </a:rPr>
              <a:t> </a:t>
            </a:r>
            <a:r>
              <a:rPr dirty="0" sz="7150" spc="-395">
                <a:solidFill>
                  <a:srgbClr val="595959"/>
                </a:solidFill>
              </a:rPr>
              <a:t>Registry</a:t>
            </a:r>
            <a:r>
              <a:rPr dirty="0" sz="7150" spc="-325">
                <a:solidFill>
                  <a:srgbClr val="595959"/>
                </a:solidFill>
              </a:rPr>
              <a:t> </a:t>
            </a:r>
            <a:r>
              <a:rPr dirty="0" sz="7150" spc="-455">
                <a:solidFill>
                  <a:srgbClr val="595959"/>
                </a:solidFill>
              </a:rPr>
              <a:t>Metadata</a:t>
            </a:r>
            <a:r>
              <a:rPr dirty="0" sz="7150" spc="-100">
                <a:solidFill>
                  <a:srgbClr val="595959"/>
                </a:solidFill>
              </a:rPr>
              <a:t> </a:t>
            </a:r>
            <a:r>
              <a:rPr dirty="0" sz="7150" spc="-715">
                <a:solidFill>
                  <a:srgbClr val="5B5B5B"/>
                </a:solidFill>
              </a:rPr>
              <a:t>Schema</a:t>
            </a:r>
            <a:endParaRPr sz="7150"/>
          </a:p>
        </p:txBody>
      </p:sp>
      <p:sp>
        <p:nvSpPr>
          <p:cNvPr id="30" name="object 30" descr=""/>
          <p:cNvSpPr txBox="1"/>
          <p:nvPr/>
        </p:nvSpPr>
        <p:spPr>
          <a:xfrm>
            <a:off x="53024" y="8299097"/>
            <a:ext cx="19367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4313" sz="5100" spc="-1305">
                <a:solidFill>
                  <a:srgbClr val="4F4F4F"/>
                </a:solidFill>
                <a:latin typeface="Arial MT"/>
                <a:cs typeface="Arial MT"/>
              </a:rPr>
              <a:t>,</a:t>
            </a:r>
            <a:r>
              <a:rPr dirty="0" sz="3400" spc="-90" i="1">
                <a:solidFill>
                  <a:srgbClr val="424242"/>
                </a:solidFill>
                <a:latin typeface="Calibri"/>
                <a:cs typeface="Calibri"/>
              </a:rPr>
              <a:t>.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932548" y="8299097"/>
            <a:ext cx="39941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>
                <a:latin typeface="Arial MT"/>
                <a:cs typeface="Arial MT"/>
              </a:rPr>
              <a:t>.</a:t>
            </a:r>
            <a:r>
              <a:rPr dirty="0" sz="3400" spc="195">
                <a:latin typeface="Arial MT"/>
                <a:cs typeface="Arial MT"/>
              </a:rPr>
              <a:t> </a:t>
            </a:r>
            <a:r>
              <a:rPr dirty="0" sz="3400" spc="-60">
                <a:latin typeface="Arial MT"/>
                <a:cs typeface="Arial MT"/>
              </a:rPr>
              <a:t>.</a:t>
            </a:r>
            <a:endParaRPr sz="3400">
              <a:latin typeface="Arial MT"/>
              <a:cs typeface="Arial MT"/>
            </a:endParaRPr>
          </a:p>
        </p:txBody>
      </p:sp>
      <p:graphicFrame>
        <p:nvGraphicFramePr>
          <p:cNvPr id="32" name="object 32" descr=""/>
          <p:cNvGraphicFramePr>
            <a:graphicFrameLocks noGrp="1"/>
          </p:cNvGraphicFramePr>
          <p:nvPr/>
        </p:nvGraphicFramePr>
        <p:xfrm>
          <a:off x="1325032" y="2434167"/>
          <a:ext cx="14842490" cy="5929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4900"/>
                <a:gridCol w="12369800"/>
              </a:tblGrid>
              <a:tr h="73660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3450" spc="-50">
                          <a:latin typeface="Arial MT"/>
                          <a:cs typeface="Arial MT"/>
                        </a:rPr>
                        <a:t>Field</a:t>
                      </a:r>
                      <a:endParaRPr sz="3450">
                        <a:latin typeface="Arial MT"/>
                        <a:cs typeface="Arial MT"/>
                      </a:endParaRPr>
                    </a:p>
                  </a:txBody>
                  <a:tcPr marL="0" marR="0" marB="0" marT="44450">
                    <a:lnL w="28575">
                      <a:solidFill>
                        <a:srgbClr val="3B4F77"/>
                      </a:solidFill>
                      <a:prstDash val="solid"/>
                    </a:lnL>
                    <a:lnR w="28575">
                      <a:solidFill>
                        <a:srgbClr val="3B4F77"/>
                      </a:solidFill>
                      <a:prstDash val="solid"/>
                    </a:lnR>
                    <a:lnT w="28575">
                      <a:solidFill>
                        <a:srgbClr val="3B4F77"/>
                      </a:solidFill>
                      <a:prstDash val="solid"/>
                    </a:lnT>
                    <a:lnB w="28575">
                      <a:solidFill>
                        <a:srgbClr val="3B4F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3550" spc="-280">
                          <a:latin typeface="Arial MT"/>
                          <a:cs typeface="Arial MT"/>
                        </a:rPr>
                        <a:t>Description</a:t>
                      </a:r>
                      <a:r>
                        <a:rPr dirty="0" sz="3550" spc="1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550" spc="-545"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3550" spc="-25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550" spc="-430">
                          <a:latin typeface="Arial MT"/>
                          <a:cs typeface="Arial MT"/>
                        </a:rPr>
                        <a:t>Example</a:t>
                      </a:r>
                      <a:endParaRPr sz="355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28575">
                      <a:solidFill>
                        <a:srgbClr val="3B4F77"/>
                      </a:solidFill>
                      <a:prstDash val="solid"/>
                    </a:lnL>
                    <a:lnR w="28575">
                      <a:solidFill>
                        <a:srgbClr val="3B4F77"/>
                      </a:solidFill>
                      <a:prstDash val="solid"/>
                    </a:lnR>
                    <a:lnT w="28575">
                      <a:solidFill>
                        <a:srgbClr val="3B4F77"/>
                      </a:solidFill>
                      <a:prstDash val="solid"/>
                    </a:lnT>
                    <a:lnB w="28575">
                      <a:solidFill>
                        <a:srgbClr val="3B4F77"/>
                      </a:solidFill>
                      <a:prstDash val="soli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3200" spc="-330">
                          <a:latin typeface="Arial MT"/>
                          <a:cs typeface="Arial MT"/>
                        </a:rPr>
                        <a:t>hode1_Nane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28575">
                      <a:solidFill>
                        <a:srgbClr val="3B4F77"/>
                      </a:solidFill>
                      <a:prstDash val="solid"/>
                    </a:lnL>
                    <a:lnR w="28575">
                      <a:solidFill>
                        <a:srgbClr val="3B4F77"/>
                      </a:solidFill>
                      <a:prstDash val="solid"/>
                    </a:lnR>
                    <a:lnT w="28575">
                      <a:solidFill>
                        <a:srgbClr val="3B4F77"/>
                      </a:solidFill>
                      <a:prstDash val="solid"/>
                    </a:lnT>
                    <a:lnB w="28575">
                      <a:solidFill>
                        <a:srgbClr val="3B4F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50"/>
                        </a:spcBef>
                        <a:tabLst>
                          <a:tab pos="10418445" algn="l"/>
                        </a:tabLst>
                      </a:pPr>
                      <a:r>
                        <a:rPr dirty="0" sz="3100" spc="-215">
                          <a:latin typeface="Arial MT"/>
                          <a:cs typeface="Arial MT"/>
                        </a:rPr>
                        <a:t>Unique</a:t>
                      </a:r>
                      <a:r>
                        <a:rPr dirty="0" sz="3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65">
                          <a:latin typeface="Arial MT"/>
                          <a:cs typeface="Arial MT"/>
                        </a:rPr>
                        <a:t>identifier</a:t>
                      </a:r>
                      <a:r>
                        <a:rPr dirty="0" sz="31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7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31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9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3100" spc="-1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80">
                          <a:latin typeface="Arial MT"/>
                          <a:cs typeface="Arial MT"/>
                        </a:rPr>
                        <a:t>machine</a:t>
                      </a:r>
                      <a:r>
                        <a:rPr dirty="0" sz="3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60">
                          <a:latin typeface="Arial MT"/>
                          <a:cs typeface="Arial MT"/>
                        </a:rPr>
                        <a:t>learning</a:t>
                      </a:r>
                      <a:r>
                        <a:rPr dirty="0" sz="3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65">
                          <a:latin typeface="Arial MT"/>
                          <a:cs typeface="Arial MT"/>
                        </a:rPr>
                        <a:t>model</a:t>
                      </a:r>
                      <a:r>
                        <a:rPr dirty="0" sz="3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65">
                          <a:latin typeface="Arial MT"/>
                          <a:cs typeface="Arial MT"/>
                        </a:rPr>
                        <a:t>(e.g.,</a:t>
                      </a:r>
                      <a:r>
                        <a:rPr dirty="0" sz="3100" spc="-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335">
                          <a:latin typeface="Arial MT"/>
                          <a:cs typeface="Arial MT"/>
                        </a:rPr>
                        <a:t>"Pn1c1ng</a:t>
                      </a:r>
                      <a:r>
                        <a:rPr dirty="0" sz="31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3100" spc="-50">
                          <a:latin typeface="Arial MT"/>
                          <a:cs typeface="Arial MT"/>
                        </a:rPr>
                        <a:t>Engine").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B="0" marT="57150">
                    <a:lnL w="28575">
                      <a:solidFill>
                        <a:srgbClr val="3B4F77"/>
                      </a:solidFill>
                      <a:prstDash val="solid"/>
                    </a:lnL>
                    <a:lnR w="28575">
                      <a:solidFill>
                        <a:srgbClr val="3B4F77"/>
                      </a:solidFill>
                      <a:prstDash val="solid"/>
                    </a:lnR>
                    <a:lnT w="28575">
                      <a:solidFill>
                        <a:srgbClr val="3B4F77"/>
                      </a:solidFill>
                      <a:prstDash val="solid"/>
                    </a:lnT>
                    <a:lnB w="28575">
                      <a:solidFill>
                        <a:srgbClr val="3B4F77"/>
                      </a:solidFill>
                      <a:prstDash val="solid"/>
                    </a:lnB>
                  </a:tcPr>
                </a:tc>
              </a:tr>
              <a:tr h="702310">
                <a:tc>
                  <a:txBody>
                    <a:bodyPr/>
                    <a:lstStyle/>
                    <a:p>
                      <a:pPr marL="18605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3050" spc="-10">
                          <a:latin typeface="Arial MT"/>
                          <a:cs typeface="Arial MT"/>
                        </a:rPr>
                        <a:t>Version</a:t>
                      </a:r>
                      <a:endParaRPr sz="3050">
                        <a:latin typeface="Arial MT"/>
                        <a:cs typeface="Arial MT"/>
                      </a:endParaRPr>
                    </a:p>
                  </a:txBody>
                  <a:tcPr marL="0" marR="0" marB="0" marT="69850">
                    <a:lnL w="28575">
                      <a:solidFill>
                        <a:srgbClr val="3B4F77"/>
                      </a:solidFill>
                      <a:prstDash val="solid"/>
                    </a:lnL>
                    <a:lnR w="28575">
                      <a:solidFill>
                        <a:srgbClr val="3B4F77"/>
                      </a:solidFill>
                      <a:prstDash val="solid"/>
                    </a:lnR>
                    <a:lnT w="28575">
                      <a:solidFill>
                        <a:srgbClr val="3B4F77"/>
                      </a:solidFill>
                      <a:prstDash val="solid"/>
                    </a:lnT>
                    <a:lnB w="28575">
                      <a:solidFill>
                        <a:srgbClr val="3B4F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3100" spc="-185">
                          <a:latin typeface="Arial MT"/>
                          <a:cs typeface="Arial MT"/>
                        </a:rPr>
                        <a:t>Semantic</a:t>
                      </a:r>
                      <a:r>
                        <a:rPr dirty="0" sz="3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50">
                          <a:latin typeface="Arial MT"/>
                          <a:cs typeface="Arial MT"/>
                        </a:rPr>
                        <a:t>versioning</a:t>
                      </a:r>
                      <a:r>
                        <a:rPr dirty="0" sz="3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3100" spc="-1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2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3100" spc="-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70">
                          <a:latin typeface="Arial MT"/>
                          <a:cs typeface="Arial MT"/>
                        </a:rPr>
                        <a:t>model</a:t>
                      </a:r>
                      <a:r>
                        <a:rPr dirty="0" sz="3100" spc="-50">
                          <a:latin typeface="Arial MT"/>
                          <a:cs typeface="Arial MT"/>
                        </a:rPr>
                        <a:t> artifact</a:t>
                      </a:r>
                      <a:r>
                        <a:rPr dirty="0" sz="31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65">
                          <a:latin typeface="Arial MT"/>
                          <a:cs typeface="Arial MT"/>
                        </a:rPr>
                        <a:t>(e.g.,</a:t>
                      </a:r>
                      <a:r>
                        <a:rPr dirty="0" sz="3100" spc="-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10">
                          <a:latin typeface="Arial MT"/>
                          <a:cs typeface="Arial MT"/>
                        </a:rPr>
                        <a:t>"v1.2.</a:t>
                      </a:r>
                      <a:r>
                        <a:rPr dirty="0" sz="3100" spc="-3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-20">
                          <a:latin typeface="Arial MT"/>
                          <a:cs typeface="Arial MT"/>
                        </a:rPr>
                        <a:t>4").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B="0" marT="50800">
                    <a:lnL w="28575">
                      <a:solidFill>
                        <a:srgbClr val="3B4F77"/>
                      </a:solidFill>
                      <a:prstDash val="solid"/>
                    </a:lnL>
                    <a:lnR w="28575">
                      <a:solidFill>
                        <a:srgbClr val="3B4F77"/>
                      </a:solidFill>
                      <a:prstDash val="solid"/>
                    </a:lnR>
                    <a:lnT w="28575">
                      <a:solidFill>
                        <a:srgbClr val="3B4F77"/>
                      </a:solidFill>
                      <a:prstDash val="solid"/>
                    </a:lnT>
                    <a:lnB w="28575">
                      <a:solidFill>
                        <a:srgbClr val="3B4F77"/>
                      </a:solidFill>
                      <a:prstDash val="solid"/>
                    </a:lnB>
                  </a:tcPr>
                </a:tc>
              </a:tr>
              <a:tr h="719455"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3100" spc="-20">
                          <a:latin typeface="Arial MT"/>
                          <a:cs typeface="Arial MT"/>
                        </a:rPr>
                        <a:t>Type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B="0" marT="71755">
                    <a:lnL w="28575">
                      <a:solidFill>
                        <a:srgbClr val="3B4F77"/>
                      </a:solidFill>
                      <a:prstDash val="solid"/>
                    </a:lnL>
                    <a:lnR w="28575">
                      <a:solidFill>
                        <a:srgbClr val="3B4F77"/>
                      </a:solidFill>
                      <a:prstDash val="solid"/>
                    </a:lnR>
                    <a:lnT w="28575">
                      <a:solidFill>
                        <a:srgbClr val="3B4F77"/>
                      </a:solidFill>
                      <a:prstDash val="solid"/>
                    </a:lnT>
                    <a:lnB w="28575">
                      <a:solidFill>
                        <a:srgbClr val="3B4F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3200" spc="-160">
                          <a:latin typeface="Arial MT"/>
                          <a:cs typeface="Arial MT"/>
                        </a:rPr>
                        <a:t>Classification</a:t>
                      </a:r>
                      <a:r>
                        <a:rPr dirty="0" sz="3200" spc="-2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9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3200" spc="-1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6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3200" spc="-1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254">
                          <a:latin typeface="Arial MT"/>
                          <a:cs typeface="Arial MT"/>
                        </a:rPr>
                        <a:t>model</a:t>
                      </a:r>
                      <a:r>
                        <a:rPr dirty="0" sz="32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95">
                          <a:latin typeface="Arial MT"/>
                          <a:cs typeface="Arial MT"/>
                        </a:rPr>
                        <a:t>deployment</a:t>
                      </a:r>
                      <a:r>
                        <a:rPr dirty="0" sz="3200" spc="1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05">
                          <a:latin typeface="Arial MT"/>
                          <a:cs typeface="Arial MT"/>
                        </a:rPr>
                        <a:t>unit</a:t>
                      </a:r>
                      <a:r>
                        <a:rPr dirty="0" sz="3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210">
                          <a:latin typeface="Arial MT"/>
                          <a:cs typeface="Arial MT"/>
                        </a:rPr>
                        <a:t>("Single"</a:t>
                      </a:r>
                      <a:r>
                        <a:rPr dirty="0" sz="3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55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32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55">
                          <a:latin typeface="Arial MT"/>
                          <a:cs typeface="Arial MT"/>
                        </a:rPr>
                        <a:t>"Cluster").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B="0" marT="59055">
                    <a:lnL w="28575">
                      <a:solidFill>
                        <a:srgbClr val="3B4F77"/>
                      </a:solidFill>
                      <a:prstDash val="solid"/>
                    </a:lnL>
                    <a:lnR w="28575">
                      <a:solidFill>
                        <a:srgbClr val="3B4F77"/>
                      </a:solidFill>
                      <a:prstDash val="solid"/>
                    </a:lnR>
                    <a:lnT w="28575">
                      <a:solidFill>
                        <a:srgbClr val="3B4F77"/>
                      </a:solidFill>
                      <a:prstDash val="solid"/>
                    </a:lnT>
                    <a:lnB w="28575">
                      <a:solidFill>
                        <a:srgbClr val="3B4F77"/>
                      </a:solidFill>
                      <a:prstDash val="solid"/>
                    </a:lnB>
                  </a:tcPr>
                </a:tc>
              </a:tr>
              <a:tr h="1007110"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3250" spc="-290">
                          <a:latin typeface="Consolas"/>
                          <a:cs typeface="Consolas"/>
                        </a:rPr>
                        <a:t>Group</a:t>
                      </a:r>
                      <a:r>
                        <a:rPr dirty="0" sz="3250" spc="-8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3250" spc="-285">
                          <a:latin typeface="Consolas"/>
                          <a:cs typeface="Consolas"/>
                        </a:rPr>
                        <a:t>ID</a:t>
                      </a:r>
                      <a:endParaRPr sz="3250">
                        <a:latin typeface="Consolas"/>
                        <a:cs typeface="Consolas"/>
                      </a:endParaRPr>
                    </a:p>
                  </a:txBody>
                  <a:tcPr marL="0" marR="0" marB="0" marT="44450">
                    <a:lnL w="28575">
                      <a:solidFill>
                        <a:srgbClr val="3B4F77"/>
                      </a:solidFill>
                      <a:prstDash val="solid"/>
                    </a:lnL>
                    <a:lnR w="28575">
                      <a:solidFill>
                        <a:srgbClr val="3B4F77"/>
                      </a:solidFill>
                      <a:prstDash val="solid"/>
                    </a:lnR>
                    <a:lnT w="28575">
                      <a:solidFill>
                        <a:srgbClr val="3B4F77"/>
                      </a:solidFill>
                      <a:prstDash val="solid"/>
                    </a:lnT>
                    <a:lnB w="28575">
                      <a:solidFill>
                        <a:srgbClr val="3B4F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ts val="3529"/>
                        </a:lnSpc>
                      </a:pPr>
                      <a:r>
                        <a:rPr dirty="0" sz="3300" spc="-450">
                          <a:latin typeface="Arial MT"/>
                          <a:cs typeface="Arial MT"/>
                        </a:rPr>
                        <a:t>UUID</a:t>
                      </a:r>
                      <a:r>
                        <a:rPr dirty="0" sz="33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300" spc="-254">
                          <a:latin typeface="Arial MT"/>
                          <a:cs typeface="Arial MT"/>
                        </a:rPr>
                        <a:t>linkîng</a:t>
                      </a:r>
                      <a:r>
                        <a:rPr dirty="0" sz="33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300" spc="-235">
                          <a:latin typeface="Arial MT"/>
                          <a:cs typeface="Arial MT"/>
                        </a:rPr>
                        <a:t>related</a:t>
                      </a:r>
                      <a:r>
                        <a:rPr dirty="0" sz="330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300" spc="-235">
                          <a:latin typeface="Arial MT"/>
                          <a:cs typeface="Arial MT"/>
                        </a:rPr>
                        <a:t>cluster</a:t>
                      </a:r>
                      <a:r>
                        <a:rPr dirty="0" sz="33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300" spc="-345">
                          <a:latin typeface="Arial MT"/>
                          <a:cs typeface="Arial MT"/>
                        </a:rPr>
                        <a:t>members</a:t>
                      </a:r>
                      <a:endParaRPr sz="3300">
                        <a:latin typeface="Arial MT"/>
                        <a:cs typeface="Arial MT"/>
                      </a:endParaRPr>
                    </a:p>
                    <a:p>
                      <a:pPr marL="188595">
                        <a:lnSpc>
                          <a:spcPts val="3410"/>
                        </a:lnSpc>
                        <a:tabLst>
                          <a:tab pos="5873115" algn="l"/>
                        </a:tabLst>
                      </a:pPr>
                      <a:r>
                        <a:rPr dirty="0" sz="3200" spc="-204">
                          <a:latin typeface="Arial MT"/>
                          <a:cs typeface="Arial MT"/>
                        </a:rPr>
                        <a:t>(e.g.,</a:t>
                      </a:r>
                      <a:r>
                        <a:rPr dirty="0" sz="3200" spc="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55">
                          <a:latin typeface="Arial MT"/>
                          <a:cs typeface="Arial MT"/>
                        </a:rPr>
                        <a:t>"a1b2c3d4-</a:t>
                      </a:r>
                      <a:r>
                        <a:rPr dirty="0" sz="3200" spc="-140">
                          <a:latin typeface="Arial MT"/>
                          <a:cs typeface="Arial MT"/>
                        </a:rPr>
                        <a:t>e5f6-</a:t>
                      </a:r>
                      <a:r>
                        <a:rPr dirty="0" sz="3200" spc="-155">
                          <a:latin typeface="Arial MT"/>
                          <a:cs typeface="Arial MT"/>
                        </a:rPr>
                        <a:t>789ô-</a:t>
                      </a:r>
                      <a:r>
                        <a:rPr dirty="0" sz="3200" spc="-10">
                          <a:latin typeface="Arial MT"/>
                          <a:cs typeface="Arial MT"/>
                        </a:rPr>
                        <a:t>g1h2-</a:t>
                      </a:r>
                      <a:r>
                        <a:rPr dirty="0" sz="32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3200" spc="-130">
                          <a:latin typeface="Arial MT"/>
                          <a:cs typeface="Arial MT"/>
                        </a:rPr>
                        <a:t>3jSk5l6m7n8").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3B4F77"/>
                      </a:solidFill>
                      <a:prstDash val="solid"/>
                    </a:lnL>
                    <a:lnR w="28575">
                      <a:solidFill>
                        <a:srgbClr val="3B4F77"/>
                      </a:solidFill>
                      <a:prstDash val="solid"/>
                    </a:lnR>
                    <a:lnT w="28575">
                      <a:solidFill>
                        <a:srgbClr val="3B4F77"/>
                      </a:solidFill>
                      <a:prstDash val="solid"/>
                    </a:lnT>
                    <a:lnB w="28575">
                      <a:solidFill>
                        <a:srgbClr val="3B4F77"/>
                      </a:solidFill>
                      <a:prstDash val="solid"/>
                    </a:lnB>
                  </a:tcPr>
                </a:tc>
              </a:tr>
              <a:tr h="1036955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3200" spc="-10">
                          <a:latin typeface="Arial MT"/>
                          <a:cs typeface="Arial MT"/>
                        </a:rPr>
                        <a:t>Stage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B="0" marT="59055">
                    <a:lnL w="28575">
                      <a:solidFill>
                        <a:srgbClr val="3B4F77"/>
                      </a:solidFill>
                      <a:prstDash val="solid"/>
                    </a:lnL>
                    <a:lnR w="28575">
                      <a:solidFill>
                        <a:srgbClr val="3B4F77"/>
                      </a:solidFill>
                      <a:prstDash val="solid"/>
                    </a:lnR>
                    <a:lnT w="28575">
                      <a:solidFill>
                        <a:srgbClr val="3B4F77"/>
                      </a:solidFill>
                      <a:prstDash val="solid"/>
                    </a:lnT>
                    <a:lnB w="28575">
                      <a:solidFill>
                        <a:srgbClr val="3B4F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 marR="1955800" indent="-1905">
                        <a:lnSpc>
                          <a:spcPts val="3050"/>
                        </a:lnSpc>
                        <a:spcBef>
                          <a:spcPts val="975"/>
                        </a:spcBef>
                      </a:pPr>
                      <a:r>
                        <a:rPr dirty="0" sz="2950" spc="-60">
                          <a:latin typeface="Arial MT"/>
                          <a:cs typeface="Arial MT"/>
                        </a:rPr>
                        <a:t>Current</a:t>
                      </a:r>
                      <a:r>
                        <a:rPr dirty="0" sz="2950" spc="-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50" spc="-65">
                          <a:latin typeface="Arial MT"/>
                          <a:cs typeface="Arial MT"/>
                        </a:rPr>
                        <a:t>deployment</a:t>
                      </a:r>
                      <a:r>
                        <a:rPr dirty="0" sz="295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50" spc="-40">
                          <a:latin typeface="Arial MT"/>
                          <a:cs typeface="Arial MT"/>
                        </a:rPr>
                        <a:t>environment/status</a:t>
                      </a:r>
                      <a:r>
                        <a:rPr dirty="0" sz="2950" spc="-1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50" spc="-80">
                          <a:latin typeface="Arial MT"/>
                          <a:cs typeface="Arial MT"/>
                        </a:rPr>
                        <a:t>("Staging",</a:t>
                      </a:r>
                      <a:r>
                        <a:rPr dirty="0" sz="29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50" spc="-75">
                          <a:latin typeface="Arial MT"/>
                          <a:cs typeface="Arial MT"/>
                        </a:rPr>
                        <a:t>"Production", </a:t>
                      </a:r>
                      <a:r>
                        <a:rPr dirty="0" sz="2950" spc="-20">
                          <a:latin typeface="Arial MT"/>
                          <a:cs typeface="Arial MT"/>
                        </a:rPr>
                        <a:t>"Archived").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B="0" marT="123825">
                    <a:lnL w="28575">
                      <a:solidFill>
                        <a:srgbClr val="3B4F77"/>
                      </a:solidFill>
                      <a:prstDash val="solid"/>
                    </a:lnL>
                    <a:lnR w="28575">
                      <a:solidFill>
                        <a:srgbClr val="3B4F77"/>
                      </a:solidFill>
                      <a:prstDash val="solid"/>
                    </a:lnR>
                    <a:lnT w="28575">
                      <a:solidFill>
                        <a:srgbClr val="3B4F77"/>
                      </a:solidFill>
                      <a:prstDash val="solid"/>
                    </a:lnT>
                    <a:lnB w="28575">
                      <a:solidFill>
                        <a:srgbClr val="3B4F77"/>
                      </a:solidFill>
                      <a:prstDash val="solid"/>
                    </a:lnB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3200" spc="-254">
                          <a:latin typeface="Consolas"/>
                          <a:cs typeface="Consolas"/>
                        </a:rPr>
                        <a:t>Source</a:t>
                      </a:r>
                      <a:r>
                        <a:rPr dirty="0" sz="3200" spc="-9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3200" spc="-25">
                          <a:latin typeface="Consolas"/>
                          <a:cs typeface="Consolas"/>
                        </a:rPr>
                        <a:t>Run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B="0" marT="50800">
                    <a:lnL w="28575">
                      <a:solidFill>
                        <a:srgbClr val="3B4F77"/>
                      </a:solidFill>
                      <a:prstDash val="solid"/>
                    </a:lnL>
                    <a:lnR w="28575">
                      <a:solidFill>
                        <a:srgbClr val="3B4F77"/>
                      </a:solidFill>
                      <a:prstDash val="solid"/>
                    </a:lnR>
                    <a:lnT w="28575">
                      <a:solidFill>
                        <a:srgbClr val="3B4F77"/>
                      </a:solidFill>
                      <a:prstDash val="solid"/>
                    </a:lnT>
                    <a:lnB w="28575">
                      <a:solidFill>
                        <a:srgbClr val="3B4F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3540"/>
                        </a:lnSpc>
                      </a:pPr>
                      <a:r>
                        <a:rPr dirty="0" sz="3400" spc="-345">
                          <a:latin typeface="Arial MT"/>
                          <a:cs typeface="Arial MT"/>
                        </a:rPr>
                        <a:t>Link</a:t>
                      </a:r>
                      <a:r>
                        <a:rPr dirty="0" sz="34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400" spc="-16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3400" spc="-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400" spc="-26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3400" spc="-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400" spc="-250">
                          <a:latin typeface="Arial MT"/>
                          <a:cs typeface="Arial MT"/>
                        </a:rPr>
                        <a:t>training</a:t>
                      </a:r>
                      <a:r>
                        <a:rPr dirty="0" sz="34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400" spc="-320">
                          <a:latin typeface="Arial MT"/>
                          <a:cs typeface="Arial MT"/>
                        </a:rPr>
                        <a:t>executïon</a:t>
                      </a:r>
                      <a:r>
                        <a:rPr dirty="0" sz="34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400" spc="-300">
                          <a:latin typeface="Arial MT"/>
                          <a:cs typeface="Arial MT"/>
                        </a:rPr>
                        <a:t>logs</a:t>
                      </a:r>
                      <a:r>
                        <a:rPr dirty="0" sz="3400" spc="-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400" spc="-36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3400" spc="-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400" spc="-340">
                          <a:latin typeface="Arial MT"/>
                          <a:cs typeface="Arial MT"/>
                        </a:rPr>
                        <a:t>parameters</a:t>
                      </a:r>
                      <a:endParaRPr sz="3400">
                        <a:latin typeface="Arial MT"/>
                        <a:cs typeface="Arial MT"/>
                      </a:endParaRPr>
                    </a:p>
                    <a:p>
                      <a:pPr marL="188595">
                        <a:lnSpc>
                          <a:spcPts val="3400"/>
                        </a:lnSpc>
                      </a:pPr>
                      <a:r>
                        <a:rPr dirty="0" sz="3200" spc="-204">
                          <a:latin typeface="Arial MT"/>
                          <a:cs typeface="Arial MT"/>
                        </a:rPr>
                        <a:t>(e.g.,</a:t>
                      </a:r>
                      <a:r>
                        <a:rPr dirty="0" sz="3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85">
                          <a:latin typeface="Arial MT"/>
                          <a:cs typeface="Arial MT"/>
                        </a:rPr>
                        <a:t>"runs/train_202¢1ô28</a:t>
                      </a:r>
                      <a:r>
                        <a:rPr dirty="0" sz="3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10">
                          <a:latin typeface="Arial MT"/>
                          <a:cs typeface="Arial MT"/>
                        </a:rPr>
                        <a:t>1ô3ô/").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28575">
                      <a:solidFill>
                        <a:srgbClr val="3B4F77"/>
                      </a:solidFill>
                      <a:prstDash val="solid"/>
                    </a:lnL>
                    <a:lnR w="28575">
                      <a:solidFill>
                        <a:srgbClr val="3B4F77"/>
                      </a:solidFill>
                      <a:prstDash val="solid"/>
                    </a:lnR>
                    <a:lnT w="28575">
                      <a:solidFill>
                        <a:srgbClr val="3B4F77"/>
                      </a:solidFill>
                      <a:prstDash val="solid"/>
                    </a:lnT>
                    <a:lnB w="28575">
                      <a:solidFill>
                        <a:srgbClr val="3B4F7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 descr=""/>
          <p:cNvSpPr txBox="1"/>
          <p:nvPr/>
        </p:nvSpPr>
        <p:spPr>
          <a:xfrm>
            <a:off x="1402986" y="8565797"/>
            <a:ext cx="1460119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200">
                <a:latin typeface="Arial MT"/>
                <a:cs typeface="Arial MT"/>
              </a:rPr>
              <a:t>Standardising</a:t>
            </a:r>
            <a:r>
              <a:rPr dirty="0" sz="3400" spc="65">
                <a:latin typeface="Arial MT"/>
                <a:cs typeface="Arial MT"/>
              </a:rPr>
              <a:t> </a:t>
            </a:r>
            <a:r>
              <a:rPr dirty="0" sz="3400" spc="-229">
                <a:latin typeface="Arial MT"/>
                <a:cs typeface="Arial MT"/>
              </a:rPr>
              <a:t>thèse</a:t>
            </a:r>
            <a:r>
              <a:rPr dirty="0" sz="3400" spc="-60">
                <a:latin typeface="Arial MT"/>
                <a:cs typeface="Arial MT"/>
              </a:rPr>
              <a:t> </a:t>
            </a:r>
            <a:r>
              <a:rPr dirty="0" sz="3400" spc="-130">
                <a:latin typeface="Arial MT"/>
                <a:cs typeface="Arial MT"/>
              </a:rPr>
              <a:t>fields</a:t>
            </a:r>
            <a:r>
              <a:rPr dirty="0" sz="3400" spc="-85">
                <a:latin typeface="Arial MT"/>
                <a:cs typeface="Arial MT"/>
              </a:rPr>
              <a:t> </a:t>
            </a:r>
            <a:r>
              <a:rPr dirty="0" sz="3400" spc="-195">
                <a:latin typeface="Arial MT"/>
                <a:cs typeface="Arial MT"/>
              </a:rPr>
              <a:t>allows</a:t>
            </a:r>
            <a:r>
              <a:rPr dirty="0" sz="3400" spc="25">
                <a:latin typeface="Arial MT"/>
                <a:cs typeface="Arial MT"/>
              </a:rPr>
              <a:t> </a:t>
            </a:r>
            <a:r>
              <a:rPr dirty="0" sz="3400" spc="-165">
                <a:latin typeface="Arial MT"/>
                <a:cs typeface="Arial MT"/>
              </a:rPr>
              <a:t>for</a:t>
            </a:r>
            <a:r>
              <a:rPr dirty="0" sz="3400" spc="-75">
                <a:latin typeface="Arial MT"/>
                <a:cs typeface="Arial MT"/>
              </a:rPr>
              <a:t> </a:t>
            </a:r>
            <a:r>
              <a:rPr dirty="0" sz="3400" spc="-220">
                <a:latin typeface="Arial MT"/>
                <a:cs typeface="Arial MT"/>
              </a:rPr>
              <a:t>automated</a:t>
            </a:r>
            <a:r>
              <a:rPr dirty="0" sz="3400" spc="90">
                <a:latin typeface="Arial MT"/>
                <a:cs typeface="Arial MT"/>
              </a:rPr>
              <a:t> </a:t>
            </a:r>
            <a:r>
              <a:rPr dirty="0" sz="3400" spc="-254">
                <a:latin typeface="Arial MT"/>
                <a:cs typeface="Arial MT"/>
              </a:rPr>
              <a:t>governance</a:t>
            </a:r>
            <a:r>
              <a:rPr dirty="0" sz="3400" spc="170">
                <a:latin typeface="Arial MT"/>
                <a:cs typeface="Arial MT"/>
              </a:rPr>
              <a:t> </a:t>
            </a:r>
            <a:r>
              <a:rPr dirty="0" sz="3400" spc="-145">
                <a:latin typeface="Arial MT"/>
                <a:cs typeface="Arial MT"/>
              </a:rPr>
              <a:t>scripts</a:t>
            </a:r>
            <a:r>
              <a:rPr dirty="0" sz="3400" spc="-95">
                <a:latin typeface="Arial MT"/>
                <a:cs typeface="Arial MT"/>
              </a:rPr>
              <a:t> </a:t>
            </a:r>
            <a:r>
              <a:rPr dirty="0" sz="3400" spc="-254">
                <a:latin typeface="Arial MT"/>
                <a:cs typeface="Arial MT"/>
              </a:rPr>
              <a:t>and</a:t>
            </a:r>
            <a:r>
              <a:rPr dirty="0" sz="3400" spc="-80">
                <a:latin typeface="Arial MT"/>
                <a:cs typeface="Arial MT"/>
              </a:rPr>
              <a:t> </a:t>
            </a:r>
            <a:r>
              <a:rPr dirty="0" sz="3400" spc="-195">
                <a:latin typeface="Arial MT"/>
                <a:cs typeface="Arial MT"/>
              </a:rPr>
              <a:t>dashboarding.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6754678" y="7741355"/>
            <a:ext cx="12827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50">
                <a:solidFill>
                  <a:srgbClr val="565656"/>
                </a:solidFill>
                <a:latin typeface="Arial MT"/>
                <a:cs typeface="Arial MT"/>
              </a:rPr>
              <a:t>î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6957763" y="8565797"/>
            <a:ext cx="15113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05">
                <a:solidFill>
                  <a:srgbClr val="5B5B5B"/>
                </a:solidFill>
                <a:latin typeface="Arial MT"/>
                <a:cs typeface="Arial MT"/>
              </a:rPr>
              <a:t>-</a:t>
            </a:r>
            <a:endParaRPr sz="3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4600" y="2336800"/>
            <a:ext cx="1549400" cy="6769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2600" y="4330700"/>
            <a:ext cx="14376400" cy="54229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31400" y="2743200"/>
            <a:ext cx="6184900" cy="12827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7121716" y="2408767"/>
            <a:ext cx="0" cy="5973445"/>
          </a:xfrm>
          <a:custGeom>
            <a:avLst/>
            <a:gdLst/>
            <a:ahLst/>
            <a:cxnLst/>
            <a:rect l="l" t="t" r="r" b="b"/>
            <a:pathLst>
              <a:path w="0" h="5973445">
                <a:moveTo>
                  <a:pt x="0" y="5973233"/>
                </a:moveTo>
                <a:lnTo>
                  <a:pt x="0" y="0"/>
                </a:lnTo>
              </a:path>
            </a:pathLst>
          </a:custGeom>
          <a:ln w="4233">
            <a:solidFill>
              <a:srgbClr val="777C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6737891" y="2505994"/>
            <a:ext cx="289560" cy="9715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140"/>
              </a:lnSpc>
            </a:pPr>
            <a:r>
              <a:rPr dirty="0" sz="1850" spc="-420">
                <a:solidFill>
                  <a:srgbClr val="464646"/>
                </a:solidFill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0882" rIns="0" bIns="0" rtlCol="0" vert="horz">
            <a:spAutoFit/>
          </a:bodyPr>
          <a:lstStyle/>
          <a:p>
            <a:pPr marL="751205">
              <a:lnSpc>
                <a:spcPct val="100000"/>
              </a:lnSpc>
              <a:spcBef>
                <a:spcPts val="90"/>
              </a:spcBef>
            </a:pPr>
            <a:r>
              <a:rPr dirty="0" spc="-120"/>
              <a:t>Implementation</a:t>
            </a:r>
            <a:r>
              <a:rPr dirty="0" spc="-830"/>
              <a:t> </a:t>
            </a:r>
            <a:r>
              <a:rPr dirty="0" spc="-360">
                <a:solidFill>
                  <a:srgbClr val="595959"/>
                </a:solidFill>
              </a:rPr>
              <a:t>Golden</a:t>
            </a:r>
            <a:r>
              <a:rPr dirty="0" spc="-260">
                <a:solidFill>
                  <a:srgbClr val="595959"/>
                </a:solidFill>
              </a:rPr>
              <a:t> </a:t>
            </a:r>
            <a:r>
              <a:rPr dirty="0" spc="-385">
                <a:solidFill>
                  <a:srgbClr val="5E5E5E"/>
                </a:solidFill>
              </a:rPr>
              <a:t>Rules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225">
              <a:lnSpc>
                <a:spcPts val="6815"/>
              </a:lnSpc>
              <a:spcBef>
                <a:spcPts val="100"/>
              </a:spcBef>
            </a:pPr>
            <a:r>
              <a:rPr dirty="0" spc="-409"/>
              <a:t>Never</a:t>
            </a:r>
            <a:r>
              <a:rPr dirty="0" spc="-75"/>
              <a:t> </a:t>
            </a:r>
            <a:r>
              <a:rPr dirty="0" spc="-320"/>
              <a:t>Block</a:t>
            </a:r>
            <a:r>
              <a:rPr dirty="0" spc="-345"/>
              <a:t> </a:t>
            </a:r>
            <a:r>
              <a:rPr dirty="0" spc="-100"/>
              <a:t>Inference.</a:t>
            </a:r>
          </a:p>
          <a:p>
            <a:pPr marL="24765">
              <a:lnSpc>
                <a:spcPts val="3995"/>
              </a:lnSpc>
            </a:pPr>
            <a:r>
              <a:rPr dirty="0" sz="3550" spc="-204"/>
              <a:t>Inference</a:t>
            </a:r>
            <a:r>
              <a:rPr dirty="0" sz="3550" spc="-40"/>
              <a:t> </a:t>
            </a:r>
            <a:r>
              <a:rPr dirty="0" sz="3550" spc="-270"/>
              <a:t>reads</a:t>
            </a:r>
            <a:r>
              <a:rPr dirty="0" sz="3550" spc="-10"/>
              <a:t> </a:t>
            </a:r>
            <a:r>
              <a:rPr dirty="0" sz="3550" spc="-204"/>
              <a:t>from</a:t>
            </a:r>
            <a:r>
              <a:rPr dirty="0" sz="3550" spc="-110"/>
              <a:t> </a:t>
            </a:r>
            <a:r>
              <a:rPr dirty="0" sz="3550" spc="-200"/>
              <a:t>Registry</a:t>
            </a:r>
            <a:r>
              <a:rPr dirty="0" sz="3550" spc="160"/>
              <a:t> </a:t>
            </a:r>
            <a:r>
              <a:rPr dirty="0" sz="3550" spc="-210"/>
              <a:t>tags,</a:t>
            </a:r>
            <a:r>
              <a:rPr dirty="0" sz="3550" spc="-105"/>
              <a:t> </a:t>
            </a:r>
            <a:r>
              <a:rPr dirty="0" sz="3550" spc="-254"/>
              <a:t>never</a:t>
            </a:r>
            <a:r>
              <a:rPr dirty="0" sz="3550" spc="5"/>
              <a:t> </a:t>
            </a:r>
            <a:r>
              <a:rPr dirty="0" sz="3550" spc="-160"/>
              <a:t>listens</a:t>
            </a:r>
            <a:r>
              <a:rPr dirty="0" sz="3550" spc="10"/>
              <a:t> </a:t>
            </a:r>
            <a:r>
              <a:rPr dirty="0" sz="3550" spc="-145"/>
              <a:t>to</a:t>
            </a:r>
            <a:r>
              <a:rPr dirty="0" sz="3550" spc="-125"/>
              <a:t> </a:t>
            </a:r>
            <a:r>
              <a:rPr dirty="0" sz="3550" spc="-250"/>
              <a:t>Training</a:t>
            </a:r>
            <a:r>
              <a:rPr dirty="0" sz="3550" spc="-40"/>
              <a:t> </a:t>
            </a:r>
            <a:r>
              <a:rPr dirty="0" sz="3550" spc="-20"/>
              <a:t>pipelines.</a:t>
            </a:r>
            <a:endParaRPr sz="3550"/>
          </a:p>
          <a:p>
            <a:pPr marL="55244">
              <a:lnSpc>
                <a:spcPts val="6970"/>
              </a:lnSpc>
              <a:spcBef>
                <a:spcPts val="1490"/>
              </a:spcBef>
            </a:pPr>
            <a:r>
              <a:rPr dirty="0" sz="5950" spc="-170"/>
              <a:t>Atomicity</a:t>
            </a:r>
            <a:r>
              <a:rPr dirty="0" sz="5950" spc="-204"/>
              <a:t> </a:t>
            </a:r>
            <a:r>
              <a:rPr dirty="0" sz="5950" spc="-130"/>
              <a:t>for</a:t>
            </a:r>
            <a:r>
              <a:rPr dirty="0" sz="5950" spc="-285"/>
              <a:t> </a:t>
            </a:r>
            <a:r>
              <a:rPr dirty="0" sz="5950" spc="-125"/>
              <a:t>Clusters.</a:t>
            </a:r>
            <a:endParaRPr sz="5950"/>
          </a:p>
          <a:p>
            <a:pPr marL="54610">
              <a:lnSpc>
                <a:spcPts val="3910"/>
              </a:lnSpc>
            </a:pPr>
            <a:r>
              <a:rPr dirty="0" sz="3400" spc="-430"/>
              <a:t>A</a:t>
            </a:r>
            <a:r>
              <a:rPr dirty="0" sz="3400" spc="-25"/>
              <a:t> </a:t>
            </a:r>
            <a:r>
              <a:rPr dirty="0" sz="3400" spc="-90"/>
              <a:t>cluster</a:t>
            </a:r>
            <a:r>
              <a:rPr dirty="0" sz="3400" spc="-150"/>
              <a:t> </a:t>
            </a:r>
            <a:r>
              <a:rPr dirty="0" sz="3400"/>
              <a:t>is</a:t>
            </a:r>
            <a:r>
              <a:rPr dirty="0" sz="3400" spc="-235"/>
              <a:t> </a:t>
            </a:r>
            <a:r>
              <a:rPr dirty="0" sz="3400" spc="-100"/>
              <a:t>valid</a:t>
            </a:r>
            <a:r>
              <a:rPr dirty="0" sz="3400" spc="-140"/>
              <a:t> </a:t>
            </a:r>
            <a:r>
              <a:rPr dirty="0" sz="3400" spc="-90"/>
              <a:t>only</a:t>
            </a:r>
            <a:r>
              <a:rPr dirty="0" sz="3400" spc="-145"/>
              <a:t> </a:t>
            </a:r>
            <a:r>
              <a:rPr dirty="0" sz="3400"/>
              <a:t>if</a:t>
            </a:r>
            <a:r>
              <a:rPr dirty="0" sz="3400" spc="-145"/>
              <a:t> </a:t>
            </a:r>
            <a:r>
              <a:rPr dirty="0" sz="3400" spc="-200"/>
              <a:t>a//</a:t>
            </a:r>
            <a:r>
              <a:rPr dirty="0" sz="3400" spc="-280"/>
              <a:t> </a:t>
            </a:r>
            <a:r>
              <a:rPr dirty="0" sz="3400" spc="-125"/>
              <a:t>sub-</a:t>
            </a:r>
            <a:r>
              <a:rPr dirty="0" sz="3400" spc="-80"/>
              <a:t>models</a:t>
            </a:r>
            <a:r>
              <a:rPr dirty="0" sz="3400" spc="90"/>
              <a:t> </a:t>
            </a:r>
            <a:r>
              <a:rPr dirty="0" sz="3400" spc="-180"/>
              <a:t>are</a:t>
            </a:r>
            <a:r>
              <a:rPr dirty="0" sz="3400" spc="-60"/>
              <a:t> </a:t>
            </a:r>
            <a:r>
              <a:rPr dirty="0" sz="3400" spc="-100"/>
              <a:t>valid.</a:t>
            </a:r>
            <a:r>
              <a:rPr dirty="0" sz="3400" spc="-145"/>
              <a:t> Register</a:t>
            </a:r>
            <a:r>
              <a:rPr dirty="0" sz="3400" spc="100"/>
              <a:t> </a:t>
            </a:r>
            <a:r>
              <a:rPr dirty="0" sz="3400" spc="-120"/>
              <a:t>them</a:t>
            </a:r>
            <a:r>
              <a:rPr dirty="0" sz="3400" spc="-114"/>
              <a:t> </a:t>
            </a:r>
            <a:r>
              <a:rPr dirty="0" sz="3400" spc="-204"/>
              <a:t>as</a:t>
            </a:r>
            <a:r>
              <a:rPr dirty="0" sz="3400" spc="-35"/>
              <a:t> </a:t>
            </a:r>
            <a:r>
              <a:rPr dirty="0" sz="3400" spc="-420"/>
              <a:t>a</a:t>
            </a:r>
            <a:r>
              <a:rPr dirty="0" sz="3400" spc="95"/>
              <a:t> </a:t>
            </a:r>
            <a:r>
              <a:rPr dirty="0" sz="3400" spc="-60"/>
              <a:t>set.</a:t>
            </a:r>
            <a:endParaRPr sz="3400"/>
          </a:p>
          <a:p>
            <a:pPr marL="36830">
              <a:lnSpc>
                <a:spcPts val="6480"/>
              </a:lnSpc>
              <a:spcBef>
                <a:spcPts val="1470"/>
              </a:spcBef>
            </a:pPr>
            <a:r>
              <a:rPr dirty="0" sz="5800" spc="-390"/>
              <a:t>Tags</a:t>
            </a:r>
            <a:r>
              <a:rPr dirty="0" sz="5800" spc="-380"/>
              <a:t> </a:t>
            </a:r>
            <a:r>
              <a:rPr dirty="0" sz="5800" spc="-254"/>
              <a:t>over</a:t>
            </a:r>
            <a:r>
              <a:rPr dirty="0" sz="5800" spc="-380"/>
              <a:t> </a:t>
            </a:r>
            <a:r>
              <a:rPr dirty="0" sz="5800" spc="-285"/>
              <a:t>IDs.</a:t>
            </a:r>
            <a:endParaRPr sz="5800"/>
          </a:p>
          <a:p>
            <a:pPr marL="47625" marR="259079" indent="-20320">
              <a:lnSpc>
                <a:spcPct val="74600"/>
              </a:lnSpc>
              <a:spcBef>
                <a:spcPts val="680"/>
              </a:spcBef>
            </a:pPr>
            <a:r>
              <a:rPr dirty="0" sz="3800" spc="-400"/>
              <a:t>Hardcode</a:t>
            </a:r>
            <a:r>
              <a:rPr dirty="0" sz="3800" spc="195"/>
              <a:t> </a:t>
            </a:r>
            <a:r>
              <a:rPr dirty="0" sz="3800" spc="-370"/>
              <a:t>your</a:t>
            </a:r>
            <a:r>
              <a:rPr dirty="0" sz="3800" spc="-80"/>
              <a:t> </a:t>
            </a:r>
            <a:r>
              <a:rPr dirty="0" sz="3800" spc="-320"/>
              <a:t>inference</a:t>
            </a:r>
            <a:r>
              <a:rPr dirty="0" sz="3800" spc="120"/>
              <a:t> </a:t>
            </a:r>
            <a:r>
              <a:rPr dirty="0" sz="3800" spc="-315"/>
              <a:t>service</a:t>
            </a:r>
            <a:r>
              <a:rPr dirty="0" sz="3800" spc="-10"/>
              <a:t> </a:t>
            </a:r>
            <a:r>
              <a:rPr dirty="0" sz="3800" spc="-245"/>
              <a:t>to</a:t>
            </a:r>
            <a:r>
              <a:rPr dirty="0" sz="3800" spc="-225"/>
              <a:t> </a:t>
            </a:r>
            <a:r>
              <a:rPr dirty="0" sz="3800" spc="-315"/>
              <a:t>look</a:t>
            </a:r>
            <a:r>
              <a:rPr dirty="0" sz="3800" spc="20"/>
              <a:t> </a:t>
            </a:r>
            <a:r>
              <a:rPr dirty="0" sz="3800" spc="-254"/>
              <a:t>for</a:t>
            </a:r>
            <a:r>
              <a:rPr dirty="0" sz="3800" spc="-160"/>
              <a:t> </a:t>
            </a:r>
            <a:r>
              <a:rPr dirty="0" sz="3800" spc="-130"/>
              <a:t>§production,</a:t>
            </a:r>
            <a:r>
              <a:rPr dirty="0" sz="3800" spc="-60"/>
              <a:t> </a:t>
            </a:r>
            <a:r>
              <a:rPr dirty="0" sz="3800" spc="-270"/>
              <a:t>not</a:t>
            </a:r>
            <a:r>
              <a:rPr dirty="0" sz="3800" spc="-10"/>
              <a:t> </a:t>
            </a:r>
            <a:r>
              <a:rPr dirty="0" sz="3800" spc="-300"/>
              <a:t>specific </a:t>
            </a:r>
            <a:r>
              <a:rPr dirty="0" sz="3800" spc="-340"/>
              <a:t>version</a:t>
            </a:r>
            <a:r>
              <a:rPr dirty="0" sz="3800" spc="-110"/>
              <a:t> </a:t>
            </a:r>
            <a:r>
              <a:rPr dirty="0" sz="3800" spc="-405"/>
              <a:t>numbers</a:t>
            </a:r>
            <a:r>
              <a:rPr dirty="0" sz="3800" spc="155"/>
              <a:t> </a:t>
            </a:r>
            <a:r>
              <a:rPr dirty="0" sz="3800" spc="-310"/>
              <a:t>(e.g.,</a:t>
            </a:r>
            <a:r>
              <a:rPr dirty="0" sz="3800" spc="-15"/>
              <a:t> </a:t>
            </a:r>
            <a:r>
              <a:rPr dirty="0" sz="3800" spc="-335"/>
              <a:t>v23).</a:t>
            </a:r>
            <a:endParaRPr sz="3800"/>
          </a:p>
          <a:p>
            <a:pPr marL="12700">
              <a:lnSpc>
                <a:spcPts val="6555"/>
              </a:lnSpc>
              <a:spcBef>
                <a:spcPts val="490"/>
              </a:spcBef>
            </a:pPr>
            <a:r>
              <a:rPr dirty="0" sz="5800" spc="-409"/>
              <a:t>Keep</a:t>
            </a:r>
            <a:r>
              <a:rPr dirty="0" sz="5800" spc="-360"/>
              <a:t> </a:t>
            </a:r>
            <a:r>
              <a:rPr dirty="0" sz="5800"/>
              <a:t>it</a:t>
            </a:r>
            <a:r>
              <a:rPr dirty="0" sz="5800" spc="-105"/>
              <a:t> </a:t>
            </a:r>
            <a:r>
              <a:rPr dirty="0" sz="5800" spc="-265"/>
              <a:t>Simple.</a:t>
            </a:r>
            <a:endParaRPr sz="5800"/>
          </a:p>
          <a:p>
            <a:pPr marL="26034" marR="800735" indent="-6350">
              <a:lnSpc>
                <a:spcPts val="3400"/>
              </a:lnSpc>
              <a:spcBef>
                <a:spcPts val="275"/>
              </a:spcBef>
            </a:pPr>
            <a:r>
              <a:rPr dirty="0" sz="3400" spc="-240"/>
              <a:t>Use</a:t>
            </a:r>
            <a:r>
              <a:rPr dirty="0" sz="3400"/>
              <a:t> </a:t>
            </a:r>
            <a:r>
              <a:rPr dirty="0" sz="3400" spc="-50"/>
              <a:t>the</a:t>
            </a:r>
            <a:r>
              <a:rPr dirty="0" sz="3400" spc="-185"/>
              <a:t> </a:t>
            </a:r>
            <a:r>
              <a:rPr dirty="0" sz="3400" spc="-220"/>
              <a:t>same</a:t>
            </a:r>
            <a:r>
              <a:rPr dirty="0" sz="3400" spc="-50"/>
              <a:t> </a:t>
            </a:r>
            <a:r>
              <a:rPr dirty="0" sz="3400" spc="-55"/>
              <a:t>registry</a:t>
            </a:r>
            <a:r>
              <a:rPr dirty="0" sz="3400" spc="-185"/>
              <a:t> </a:t>
            </a:r>
            <a:r>
              <a:rPr dirty="0" sz="3400" spc="-65"/>
              <a:t>pattern</a:t>
            </a:r>
            <a:r>
              <a:rPr dirty="0" sz="3400" spc="-170"/>
              <a:t> </a:t>
            </a:r>
            <a:r>
              <a:rPr dirty="0" sz="3400" spc="-10"/>
              <a:t>for</a:t>
            </a:r>
            <a:r>
              <a:rPr dirty="0" sz="3400" spc="-229"/>
              <a:t> </a:t>
            </a:r>
            <a:r>
              <a:rPr dirty="0" sz="3400" spc="-10"/>
              <a:t>both</a:t>
            </a:r>
            <a:r>
              <a:rPr dirty="0" sz="3400" spc="-175"/>
              <a:t> </a:t>
            </a:r>
            <a:r>
              <a:rPr dirty="0" sz="3400" spc="-130"/>
              <a:t>single</a:t>
            </a:r>
            <a:r>
              <a:rPr dirty="0" sz="3400" spc="-105"/>
              <a:t> </a:t>
            </a:r>
            <a:r>
              <a:rPr dirty="0" sz="3400" spc="-155"/>
              <a:t>and</a:t>
            </a:r>
            <a:r>
              <a:rPr dirty="0" sz="3400" spc="-85"/>
              <a:t> </a:t>
            </a:r>
            <a:r>
              <a:rPr dirty="0" sz="3400" spc="-80"/>
              <a:t>cluster</a:t>
            </a:r>
            <a:r>
              <a:rPr dirty="0" sz="3400" spc="-90"/>
              <a:t> </a:t>
            </a:r>
            <a:r>
              <a:rPr dirty="0" sz="3400" spc="-125"/>
              <a:t>models</a:t>
            </a:r>
            <a:r>
              <a:rPr dirty="0" sz="3400" spc="-10"/>
              <a:t> </a:t>
            </a:r>
            <a:r>
              <a:rPr dirty="0" sz="3400" spc="-25"/>
              <a:t>to </a:t>
            </a:r>
            <a:r>
              <a:rPr dirty="0" sz="3400" spc="-130"/>
              <a:t>reduce</a:t>
            </a:r>
            <a:r>
              <a:rPr dirty="0" sz="3400" spc="-110"/>
              <a:t> </a:t>
            </a:r>
            <a:r>
              <a:rPr dirty="0" sz="3400" spc="-135"/>
              <a:t>maintenance</a:t>
            </a:r>
            <a:r>
              <a:rPr dirty="0" sz="3400" spc="-65"/>
              <a:t> </a:t>
            </a:r>
            <a:r>
              <a:rPr dirty="0" sz="3400" spc="-50"/>
              <a:t>overhead.</a:t>
            </a:r>
            <a:endParaRPr sz="3400"/>
          </a:p>
        </p:txBody>
      </p:sp>
      <p:sp>
        <p:nvSpPr>
          <p:cNvPr id="9" name="object 9" descr=""/>
          <p:cNvSpPr txBox="1"/>
          <p:nvPr/>
        </p:nvSpPr>
        <p:spPr>
          <a:xfrm>
            <a:off x="78424" y="8534047"/>
            <a:ext cx="14097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50">
                <a:solidFill>
                  <a:srgbClr val="525252"/>
                </a:solidFill>
                <a:latin typeface="Arial MT"/>
                <a:cs typeface="Arial MT"/>
              </a:rPr>
              <a:t>,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937462" y="9512300"/>
            <a:ext cx="132397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9120" algn="l"/>
                <a:tab pos="997585" algn="l"/>
              </a:tabLst>
            </a:pPr>
            <a:r>
              <a:rPr dirty="0" sz="1250" spc="-300">
                <a:solidFill>
                  <a:srgbClr val="505050"/>
                </a:solidFill>
                <a:latin typeface="Arial MT"/>
                <a:cs typeface="Arial MT"/>
              </a:rPr>
              <a:t>SCAN</a:t>
            </a:r>
            <a:r>
              <a:rPr dirty="0" sz="1250" spc="-12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1250" spc="-415">
                <a:solidFill>
                  <a:srgbClr val="4F4F4F"/>
                </a:solidFill>
                <a:latin typeface="Arial MT"/>
                <a:cs typeface="Arial MT"/>
              </a:rPr>
              <a:t>E</a:t>
            </a:r>
            <a:r>
              <a:rPr dirty="0" sz="1250">
                <a:solidFill>
                  <a:srgbClr val="4F4F4F"/>
                </a:solidFill>
                <a:latin typeface="Arial MT"/>
                <a:cs typeface="Arial MT"/>
              </a:rPr>
              <a:t>	</a:t>
            </a:r>
            <a:r>
              <a:rPr dirty="0" sz="1250" spc="-25">
                <a:solidFill>
                  <a:srgbClr val="3F3F3F"/>
                </a:solidFill>
                <a:latin typeface="Arial MT"/>
                <a:cs typeface="Arial MT"/>
              </a:rPr>
              <a:t>NF5</a:t>
            </a:r>
            <a:r>
              <a:rPr dirty="0" sz="1250">
                <a:solidFill>
                  <a:srgbClr val="3F3F3F"/>
                </a:solidFill>
                <a:latin typeface="Arial MT"/>
                <a:cs typeface="Arial MT"/>
              </a:rPr>
              <a:t>	</a:t>
            </a:r>
            <a:r>
              <a:rPr dirty="0" sz="1250" spc="-210">
                <a:solidFill>
                  <a:srgbClr val="444444"/>
                </a:solidFill>
                <a:latin typeface="Arial MT"/>
                <a:cs typeface="Arial MT"/>
              </a:rPr>
              <a:t>DATE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2026-01-19T21:45:32Z</dcterms:created>
  <dcterms:modified xsi:type="dcterms:W3CDTF">2026-01-19T21:45:32Z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2026-01-19T00:00:00Z</vt:filetime>
  </property>
  <property fmtid="{D5CDD505-2E9C-101B-9397-08002B2CF9AE}" pid="3" name="LastSaved">
    <vt:filetime>2026-01-19T00:00:00Z</vt:filetime>
  </property>
</Properties>
</file>